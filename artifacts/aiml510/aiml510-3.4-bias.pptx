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2743200"/>
            <a:ext cx="12191695" cy="7315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463040"/>
            <a:ext cx="10515600" cy="1280160"/>
          </a:xfrm>
          <a:prstGeom prst="rect">
            <a:avLst/>
          </a:prstGeom>
          <a:noFill/>
        </p:spPr>
        <p:txBody>
          <a:bodyPr wrap="none">
            <a:spAutoFit/>
          </a:bodyPr>
          <a:lstStyle/>
          <a:p>
            <a:pPr algn="ctr">
              <a:defRPr sz="3800" b="1">
                <a:solidFill>
                  <a:srgbClr val="FFFFFF"/>
                </a:solidFill>
              </a:defRPr>
            </a:pPr>
            <a:r>
              <a:t>RAI Framework Project</a:t>
            </a:r>
            <a:br/>
            <a:r>
              <a:t>Design Considerations</a:t>
            </a:r>
          </a:p>
        </p:txBody>
      </p:sp>
      <p:sp>
        <p:nvSpPr>
          <p:cNvPr id="4" name="TextBox 3"/>
          <p:cNvSpPr txBox="1"/>
          <p:nvPr/>
        </p:nvSpPr>
        <p:spPr>
          <a:xfrm>
            <a:off x="3759286" y="2926080"/>
            <a:ext cx="4460068" cy="2077492"/>
          </a:xfrm>
          <a:prstGeom prst="rect">
            <a:avLst/>
          </a:prstGeom>
          <a:noFill/>
        </p:spPr>
        <p:txBody>
          <a:bodyPr wrap="none">
            <a:spAutoFit/>
          </a:bodyPr>
          <a:lstStyle/>
          <a:p>
            <a:pPr algn="ctr">
              <a:spcAft>
                <a:spcPts val="300"/>
              </a:spcAft>
              <a:defRPr sz="1800">
                <a:solidFill>
                  <a:srgbClr val="CBD5E0"/>
                </a:solidFill>
              </a:defRPr>
            </a:pPr>
            <a:r>
              <a:rPr dirty="0" err="1"/>
              <a:t>SentinelOneX</a:t>
            </a:r>
            <a:r>
              <a:rPr dirty="0"/>
              <a:t> Security</a:t>
            </a:r>
          </a:p>
          <a:p>
            <a:pPr algn="ctr">
              <a:spcAft>
                <a:spcPts val="300"/>
              </a:spcAft>
              <a:defRPr sz="1600">
                <a:solidFill>
                  <a:srgbClr val="CBD5E0"/>
                </a:solidFill>
              </a:defRPr>
            </a:pPr>
            <a:r>
              <a:rPr dirty="0"/>
              <a:t>AIML-510-01 — Responsible Application of AI</a:t>
            </a:r>
          </a:p>
          <a:p>
            <a:pPr algn="ctr">
              <a:spcAft>
                <a:spcPts val="300"/>
              </a:spcAft>
              <a:defRPr sz="1600">
                <a:solidFill>
                  <a:srgbClr val="CBD5E0"/>
                </a:solidFill>
              </a:defRPr>
            </a:pPr>
            <a:r>
              <a:rPr dirty="0"/>
              <a:t>Workshop 3: Identifying &amp; Managing Bias in AI</a:t>
            </a:r>
          </a:p>
          <a:p>
            <a:pPr algn="ctr">
              <a:spcAft>
                <a:spcPts val="300"/>
              </a:spcAft>
              <a:defRPr sz="1600">
                <a:solidFill>
                  <a:srgbClr val="CBD5E0"/>
                </a:solidFill>
              </a:defRPr>
            </a:pPr>
            <a:r>
              <a:rPr dirty="0"/>
              <a:t>Aligned to NIST SP 1270 (March 2022)</a:t>
            </a:r>
          </a:p>
          <a:p>
            <a:pPr algn="ctr">
              <a:spcAft>
                <a:spcPts val="300"/>
              </a:spcAft>
              <a:defRPr sz="1600">
                <a:solidFill>
                  <a:srgbClr val="CBD5E0"/>
                </a:solidFill>
              </a:defRPr>
            </a:pPr>
            <a:endParaRPr dirty="0"/>
          </a:p>
          <a:p>
            <a:pPr algn="ctr">
              <a:spcAft>
                <a:spcPts val="300"/>
              </a:spcAft>
              <a:defRPr sz="1600">
                <a:solidFill>
                  <a:srgbClr val="CBD5E0"/>
                </a:solidFill>
              </a:defRPr>
            </a:pPr>
            <a:r>
              <a:rPr dirty="0"/>
              <a:t>Arun Kumar Vallala | Indiana Wesleyan University</a:t>
            </a:r>
          </a:p>
          <a:p>
            <a:pPr algn="ctr">
              <a:spcAft>
                <a:spcPts val="300"/>
              </a:spcAft>
              <a:defRPr sz="1600">
                <a:solidFill>
                  <a:srgbClr val="CBD5E0"/>
                </a:solidFill>
              </a:defRPr>
            </a:pPr>
            <a:r>
              <a:rPr dirty="0"/>
              <a:t>Instructor: Armando V. Tauro, Ph.D. | </a:t>
            </a:r>
            <a:r>
              <a:t>June 1</a:t>
            </a:r>
            <a:r>
              <a:rPr lang="en-US"/>
              <a:t>7</a:t>
            </a:r>
            <a:r>
              <a:t>, </a:t>
            </a:r>
            <a:r>
              <a:rPr dirty="0"/>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Company Overview</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SentinelOneX Security — Assignment 1.3</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sp>
        <p:nvSpPr>
          <p:cNvPr id="6" name="TextBox 5"/>
          <p:cNvSpPr txBox="1"/>
          <p:nvPr/>
        </p:nvSpPr>
        <p:spPr>
          <a:xfrm>
            <a:off x="731520" y="1325880"/>
            <a:ext cx="10789920" cy="1828800"/>
          </a:xfrm>
          <a:prstGeom prst="rect">
            <a:avLst/>
          </a:prstGeom>
          <a:noFill/>
        </p:spPr>
        <p:txBody>
          <a:bodyPr wrap="square">
            <a:spAutoFit/>
          </a:bodyPr>
          <a:lstStyle/>
          <a:p>
            <a:pPr>
              <a:spcBef>
                <a:spcPts val="800"/>
              </a:spcBef>
              <a:spcAft>
                <a:spcPts val="400"/>
              </a:spcAft>
              <a:defRPr sz="1600">
                <a:solidFill>
                  <a:srgbClr val="2D3748"/>
                </a:solidFill>
              </a:defRPr>
            </a:pPr>
            <a:r>
              <a:t>Cybersecurity AI company providing AI-powered threat detection, SOC automation, and vendor risk evaluation</a:t>
            </a:r>
          </a:p>
          <a:p>
            <a:pPr>
              <a:spcBef>
                <a:spcPts val="800"/>
              </a:spcBef>
              <a:spcAft>
                <a:spcPts val="400"/>
              </a:spcAft>
              <a:defRPr sz="1600">
                <a:solidFill>
                  <a:srgbClr val="2D3748"/>
                </a:solidFill>
              </a:defRPr>
            </a:pPr>
            <a:r>
              <a:t>Cybersecurity AI can directly impact customer systems and business operations</a:t>
            </a:r>
          </a:p>
          <a:p>
            <a:pPr>
              <a:spcBef>
                <a:spcPts val="800"/>
              </a:spcBef>
              <a:spcAft>
                <a:spcPts val="400"/>
              </a:spcAft>
              <a:defRPr sz="1600">
                <a:solidFill>
                  <a:srgbClr val="2D3748"/>
                </a:solidFill>
              </a:defRPr>
            </a:pPr>
            <a:r>
              <a:t>Our principles address threat response, customer trust, privacy protection, and operational decision-making</a:t>
            </a:r>
          </a:p>
          <a:p>
            <a:pPr>
              <a:spcBef>
                <a:spcPts val="800"/>
              </a:spcBef>
              <a:spcAft>
                <a:spcPts val="400"/>
              </a:spcAft>
              <a:defRPr sz="1600">
                <a:solidFill>
                  <a:srgbClr val="2D3748"/>
                </a:solidFill>
              </a:defRPr>
            </a:pPr>
            <a:r>
              <a:t>Organizational themes: fairness, accountability, transparency, privacy, reliability, and human oversight</a:t>
            </a:r>
          </a:p>
        </p:txBody>
      </p:sp>
      <p:sp>
        <p:nvSpPr>
          <p:cNvPr id="7" name="Rounded Rectangle 6"/>
          <p:cNvSpPr/>
          <p:nvPr/>
        </p:nvSpPr>
        <p:spPr>
          <a:xfrm>
            <a:off x="731520" y="3246120"/>
            <a:ext cx="10789920" cy="2606040"/>
          </a:xfrm>
          <a:prstGeom prst="roundRect">
            <a:avLst/>
          </a:prstGeom>
          <a:solidFill>
            <a:srgbClr val="E8EDF2"/>
          </a:solidFill>
          <a:ln>
            <a:solidFill>
              <a:srgbClr val="007A8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B2A4A"/>
                </a:solidFill>
              </a:defRPr>
            </a:pPr>
            <a:r>
              <a:t>AI Ethics Statement (Assignment 1.3)</a:t>
            </a:r>
          </a:p>
          <a:p>
            <a:pPr>
              <a:defRPr sz="1300">
                <a:solidFill>
                  <a:srgbClr val="2D3748"/>
                </a:solidFill>
              </a:defRPr>
            </a:pPr>
            <a:r>
              <a:t>Our AI systems will be designed and deployed to improve cybersecurity outcomes while respecting privacy, fairness, transparency, and human oversight. We commit to developing AI that is secure, reliable, explainable, and accountable. Human decision-makers will retain authority over critical security actions. We will continuously monitor AI systems for bias, performance degradation, and unintended consequences.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AI Use Cases Under Consideration</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Same use cases from Assignment 1.3</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graphicFrame>
        <p:nvGraphicFramePr>
          <p:cNvPr id="6" name="Table 5"/>
          <p:cNvGraphicFramePr>
            <a:graphicFrameLocks noGrp="1"/>
          </p:cNvGraphicFramePr>
          <p:nvPr/>
        </p:nvGraphicFramePr>
        <p:xfrm>
          <a:off x="457200" y="1280160"/>
          <a:ext cx="11247120" cy="4754880"/>
        </p:xfrm>
        <a:graphic>
          <a:graphicData uri="http://schemas.openxmlformats.org/drawingml/2006/table">
            <a:tbl>
              <a:tblPr firstRow="1" bandRow="1">
                <a:tableStyleId>{5C22544A-7EE6-4342-B048-85BDC9FD1C3A}</a:tableStyleId>
              </a:tblPr>
              <a:tblGrid>
                <a:gridCol w="37490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950976">
                <a:tc>
                  <a:txBody>
                    <a:bodyPr/>
                    <a:lstStyle/>
                    <a:p>
                      <a:pPr algn="l">
                        <a:defRPr sz="900" b="1">
                          <a:solidFill>
                            <a:srgbClr val="FFFFFF"/>
                          </a:solidFill>
                        </a:defRPr>
                      </a:pPr>
                      <a:r>
                        <a:t>Use Case</a:t>
                      </a:r>
                    </a:p>
                  </a:txBody>
                  <a:tcPr marL="54864" marR="54864" marT="27432" marB="27432" anchor="ctr">
                    <a:solidFill>
                      <a:srgbClr val="007A87"/>
                    </a:solidFill>
                  </a:tcPr>
                </a:tc>
                <a:tc>
                  <a:txBody>
                    <a:bodyPr/>
                    <a:lstStyle/>
                    <a:p>
                      <a:pPr algn="l">
                        <a:defRPr sz="900" b="1">
                          <a:solidFill>
                            <a:srgbClr val="FFFFFF"/>
                          </a:solidFill>
                        </a:defRPr>
                      </a:pPr>
                      <a:r>
                        <a:t>Description</a:t>
                      </a:r>
                    </a:p>
                  </a:txBody>
                  <a:tcPr marL="54864" marR="54864" marT="27432" marB="27432" anchor="ctr">
                    <a:solidFill>
                      <a:srgbClr val="007A87"/>
                    </a:solidFill>
                  </a:tcPr>
                </a:tc>
                <a:tc>
                  <a:txBody>
                    <a:bodyPr/>
                    <a:lstStyle/>
                    <a:p>
                      <a:pPr algn="l">
                        <a:defRPr sz="900" b="1">
                          <a:solidFill>
                            <a:srgbClr val="FFFFFF"/>
                          </a:solidFill>
                        </a:defRPr>
                      </a:pPr>
                      <a:r>
                        <a:t>1.3 Ethics Impact Area</a:t>
                      </a:r>
                    </a:p>
                  </a:txBody>
                  <a:tcPr marL="54864" marR="54864" marT="27432" marB="27432" anchor="ctr">
                    <a:solidFill>
                      <a:srgbClr val="007A87"/>
                    </a:solidFill>
                  </a:tcPr>
                </a:tc>
                <a:extLst>
                  <a:ext uri="{0D108BD9-81ED-4DB2-BD59-A6C34878D82A}">
                    <a16:rowId xmlns:a16="http://schemas.microsoft.com/office/drawing/2014/main" val="10000"/>
                  </a:ext>
                </a:extLst>
              </a:tr>
              <a:tr h="950976">
                <a:tc>
                  <a:txBody>
                    <a:bodyPr/>
                    <a:lstStyle/>
                    <a:p>
                      <a:pPr algn="l">
                        <a:defRPr sz="900" b="0">
                          <a:solidFill>
                            <a:srgbClr val="2D3748"/>
                          </a:solidFill>
                        </a:defRPr>
                      </a:pPr>
                      <a:r>
                        <a:t>AI Malware Detection Engine</a:t>
                      </a:r>
                    </a:p>
                  </a:txBody>
                  <a:tcPr marL="54864" marR="54864" marT="27432" marB="27432" anchor="ctr">
                    <a:solidFill>
                      <a:srgbClr val="FFFFFF"/>
                    </a:solidFill>
                  </a:tcPr>
                </a:tc>
                <a:tc>
                  <a:txBody>
                    <a:bodyPr/>
                    <a:lstStyle/>
                    <a:p>
                      <a:pPr algn="l">
                        <a:defRPr sz="900" b="0">
                          <a:solidFill>
                            <a:srgbClr val="2D3748"/>
                          </a:solidFill>
                        </a:defRPr>
                      </a:pPr>
                      <a:r>
                        <a:t>ML model scores files and behaviors as malicious or benign for endpoint protection</a:t>
                      </a:r>
                    </a:p>
                  </a:txBody>
                  <a:tcPr marL="54864" marR="54864" marT="27432" marB="27432" anchor="ctr">
                    <a:solidFill>
                      <a:srgbClr val="FFFFFF"/>
                    </a:solidFill>
                  </a:tcPr>
                </a:tc>
                <a:tc>
                  <a:txBody>
                    <a:bodyPr/>
                    <a:lstStyle/>
                    <a:p>
                      <a:pPr algn="l">
                        <a:defRPr sz="900" b="0">
                          <a:solidFill>
                            <a:srgbClr val="2D3748"/>
                          </a:solidFill>
                        </a:defRPr>
                      </a:pPr>
                      <a:r>
                        <a:t>Customer systems &amp; operational decision-making</a:t>
                      </a:r>
                    </a:p>
                  </a:txBody>
                  <a:tcPr marL="54864" marR="54864" marT="27432" marB="27432" anchor="ctr">
                    <a:solidFill>
                      <a:srgbClr val="FFFFFF"/>
                    </a:solidFill>
                  </a:tcPr>
                </a:tc>
                <a:extLst>
                  <a:ext uri="{0D108BD9-81ED-4DB2-BD59-A6C34878D82A}">
                    <a16:rowId xmlns:a16="http://schemas.microsoft.com/office/drawing/2014/main" val="10001"/>
                  </a:ext>
                </a:extLst>
              </a:tr>
              <a:tr h="950976">
                <a:tc>
                  <a:txBody>
                    <a:bodyPr/>
                    <a:lstStyle/>
                    <a:p>
                      <a:pPr algn="l">
                        <a:defRPr sz="900" b="0">
                          <a:solidFill>
                            <a:srgbClr val="2D3748"/>
                          </a:solidFill>
                        </a:defRPr>
                      </a:pPr>
                      <a:r>
                        <a:t>SOC Alert Triage &amp; Prioritization</a:t>
                      </a:r>
                    </a:p>
                  </a:txBody>
                  <a:tcPr marL="54864" marR="54864" marT="27432" marB="27432" anchor="ctr">
                    <a:solidFill>
                      <a:srgbClr val="E8EDF2"/>
                    </a:solidFill>
                  </a:tcPr>
                </a:tc>
                <a:tc>
                  <a:txBody>
                    <a:bodyPr/>
                    <a:lstStyle/>
                    <a:p>
                      <a:pPr algn="l">
                        <a:defRPr sz="900" b="0">
                          <a:solidFill>
                            <a:srgbClr val="2D3748"/>
                          </a:solidFill>
                        </a:defRPr>
                      </a:pPr>
                      <a:r>
                        <a:t>AI ranks incoming security alerts so analysts focus on highest-risk incidents first</a:t>
                      </a:r>
                    </a:p>
                  </a:txBody>
                  <a:tcPr marL="54864" marR="54864" marT="27432" marB="27432" anchor="ctr">
                    <a:solidFill>
                      <a:srgbClr val="E8EDF2"/>
                    </a:solidFill>
                  </a:tcPr>
                </a:tc>
                <a:tc>
                  <a:txBody>
                    <a:bodyPr/>
                    <a:lstStyle/>
                    <a:p>
                      <a:pPr algn="l">
                        <a:defRPr sz="900" b="0">
                          <a:solidFill>
                            <a:srgbClr val="2D3748"/>
                          </a:solidFill>
                        </a:defRPr>
                      </a:pPr>
                      <a:r>
                        <a:t>Threat response &amp; operational decision-making</a:t>
                      </a:r>
                    </a:p>
                  </a:txBody>
                  <a:tcPr marL="54864" marR="54864" marT="27432" marB="27432" anchor="ctr">
                    <a:solidFill>
                      <a:srgbClr val="E8EDF2"/>
                    </a:solidFill>
                  </a:tcPr>
                </a:tc>
                <a:extLst>
                  <a:ext uri="{0D108BD9-81ED-4DB2-BD59-A6C34878D82A}">
                    <a16:rowId xmlns:a16="http://schemas.microsoft.com/office/drawing/2014/main" val="10002"/>
                  </a:ext>
                </a:extLst>
              </a:tr>
              <a:tr h="950976">
                <a:tc>
                  <a:txBody>
                    <a:bodyPr/>
                    <a:lstStyle/>
                    <a:p>
                      <a:pPr algn="l">
                        <a:defRPr sz="900" b="0">
                          <a:solidFill>
                            <a:srgbClr val="2D3748"/>
                          </a:solidFill>
                        </a:defRPr>
                      </a:pPr>
                      <a:r>
                        <a:t>Automated Incident Response Recommendations</a:t>
                      </a:r>
                    </a:p>
                  </a:txBody>
                  <a:tcPr marL="54864" marR="54864" marT="27432" marB="27432" anchor="ctr">
                    <a:solidFill>
                      <a:srgbClr val="FFFFFF"/>
                    </a:solidFill>
                  </a:tcPr>
                </a:tc>
                <a:tc>
                  <a:txBody>
                    <a:bodyPr/>
                    <a:lstStyle/>
                    <a:p>
                      <a:pPr algn="l">
                        <a:defRPr sz="900" b="0">
                          <a:solidFill>
                            <a:srgbClr val="2D3748"/>
                          </a:solidFill>
                        </a:defRPr>
                      </a:pPr>
                      <a:r>
                        <a:t>AI suggests containment actions such as isolation, blocking, or escalation</a:t>
                      </a:r>
                    </a:p>
                  </a:txBody>
                  <a:tcPr marL="54864" marR="54864" marT="27432" marB="27432" anchor="ctr">
                    <a:solidFill>
                      <a:srgbClr val="FFFFFF"/>
                    </a:solidFill>
                  </a:tcPr>
                </a:tc>
                <a:tc>
                  <a:txBody>
                    <a:bodyPr/>
                    <a:lstStyle/>
                    <a:p>
                      <a:pPr algn="l">
                        <a:defRPr sz="900" b="0">
                          <a:solidFill>
                            <a:srgbClr val="2D3748"/>
                          </a:solidFill>
                        </a:defRPr>
                      </a:pPr>
                      <a:r>
                        <a:t>Customer systems &amp; threat response (human retains authority)</a:t>
                      </a:r>
                    </a:p>
                  </a:txBody>
                  <a:tcPr marL="54864" marR="54864" marT="27432" marB="27432" anchor="ctr">
                    <a:solidFill>
                      <a:srgbClr val="FFFFFF"/>
                    </a:solidFill>
                  </a:tcPr>
                </a:tc>
                <a:extLst>
                  <a:ext uri="{0D108BD9-81ED-4DB2-BD59-A6C34878D82A}">
                    <a16:rowId xmlns:a16="http://schemas.microsoft.com/office/drawing/2014/main" val="10003"/>
                  </a:ext>
                </a:extLst>
              </a:tr>
              <a:tr h="950976">
                <a:tc>
                  <a:txBody>
                    <a:bodyPr/>
                    <a:lstStyle/>
                    <a:p>
                      <a:pPr algn="l">
                        <a:defRPr sz="900" b="0">
                          <a:solidFill>
                            <a:srgbClr val="2D3748"/>
                          </a:solidFill>
                        </a:defRPr>
                      </a:pPr>
                      <a:r>
                        <a:t>Third-Party Vendor AI Risk Assessment</a:t>
                      </a:r>
                    </a:p>
                  </a:txBody>
                  <a:tcPr marL="54864" marR="54864" marT="27432" marB="27432" anchor="ctr">
                    <a:solidFill>
                      <a:srgbClr val="E8EDF2"/>
                    </a:solidFill>
                  </a:tcPr>
                </a:tc>
                <a:tc>
                  <a:txBody>
                    <a:bodyPr/>
                    <a:lstStyle/>
                    <a:p>
                      <a:pPr algn="l">
                        <a:defRPr sz="900" b="0">
                          <a:solidFill>
                            <a:srgbClr val="2D3748"/>
                          </a:solidFill>
                        </a:defRPr>
                      </a:pPr>
                      <a:r>
                        <a:t>AI evaluates external AI/security vendors for procurement and integration decisions</a:t>
                      </a:r>
                    </a:p>
                  </a:txBody>
                  <a:tcPr marL="54864" marR="54864" marT="27432" marB="27432" anchor="ctr">
                    <a:solidFill>
                      <a:srgbClr val="E8EDF2"/>
                    </a:solidFill>
                  </a:tcPr>
                </a:tc>
                <a:tc>
                  <a:txBody>
                    <a:bodyPr/>
                    <a:lstStyle/>
                    <a:p>
                      <a:pPr algn="l">
                        <a:defRPr sz="900" b="0">
                          <a:solidFill>
                            <a:srgbClr val="2D3748"/>
                          </a:solidFill>
                        </a:defRPr>
                      </a:pPr>
                      <a:r>
                        <a:t>Customer trust, privacy protection, and accountability</a:t>
                      </a:r>
                    </a:p>
                  </a:txBody>
                  <a:tcPr marL="54864" marR="54864" marT="27432" marB="27432" anchor="ctr">
                    <a:solidFill>
                      <a:srgbClr val="E8ED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NIST SP 1270 Framework Context</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Socio-technical approach — systemic, statistical/computational, and human bias (NIST Fig. 2)</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pic>
        <p:nvPicPr>
          <p:cNvPr id="6" name="Picture 5" descr="chart_nist_framework.png"/>
          <p:cNvPicPr>
            <a:picLocks noChangeAspect="1"/>
          </p:cNvPicPr>
          <p:nvPr/>
        </p:nvPicPr>
        <p:blipFill>
          <a:blip r:embed="rId2"/>
          <a:stretch>
            <a:fillRect/>
          </a:stretch>
        </p:blipFill>
        <p:spPr>
          <a:xfrm>
            <a:off x="320040" y="1143000"/>
            <a:ext cx="11521440" cy="5322801"/>
          </a:xfrm>
          <a:prstGeom prst="rect">
            <a:avLst/>
          </a:prstGeom>
        </p:spPr>
      </p:pic>
      <p:sp>
        <p:nvSpPr>
          <p:cNvPr id="7" name="TextBox 6"/>
          <p:cNvSpPr txBox="1"/>
          <p:nvPr/>
        </p:nvSpPr>
        <p:spPr>
          <a:xfrm>
            <a:off x="548640" y="6144768"/>
            <a:ext cx="10972800" cy="320040"/>
          </a:xfrm>
          <a:prstGeom prst="rect">
            <a:avLst/>
          </a:prstGeom>
          <a:noFill/>
        </p:spPr>
        <p:txBody>
          <a:bodyPr wrap="none">
            <a:spAutoFit/>
          </a:bodyPr>
          <a:lstStyle/>
          <a:p>
            <a:pPr>
              <a:defRPr sz="1000" i="1">
                <a:solidFill>
                  <a:srgbClr val="71859B"/>
                </a:solidFill>
              </a:defRPr>
            </a:pPr>
            <a:r>
              <a:t>Source: NIST SP 1270 — Towards a Standard for Identifying and Managing Bias in Artificial Intelligence (March 2022)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Chart: Data Sources, Bias &amp; Mitigations</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NIST §3.1 — dataset challenges: who is counted, and who is not?</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pic>
        <p:nvPicPr>
          <p:cNvPr id="6" name="Picture 5" descr="chart1_data_sources_bias.png"/>
          <p:cNvPicPr>
            <a:picLocks noChangeAspect="1"/>
          </p:cNvPicPr>
          <p:nvPr/>
        </p:nvPicPr>
        <p:blipFill>
          <a:blip r:embed="rId2"/>
          <a:stretch>
            <a:fillRect/>
          </a:stretch>
        </p:blipFill>
        <p:spPr>
          <a:xfrm>
            <a:off x="320040" y="1143000"/>
            <a:ext cx="11521440" cy="54498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Chart: Algorithmic Bias Sources &amp; Mitigations</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NIST §3.2.2 — pre-processing, in-processing, and post-processing debiasing methods</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pic>
        <p:nvPicPr>
          <p:cNvPr id="6" name="Picture 5" descr="chart2_algorithmic_bias.png"/>
          <p:cNvPicPr>
            <a:picLocks noChangeAspect="1"/>
          </p:cNvPicPr>
          <p:nvPr/>
        </p:nvPicPr>
        <p:blipFill>
          <a:blip r:embed="rId2"/>
          <a:stretch>
            <a:fillRect/>
          </a:stretch>
        </p:blipFill>
        <p:spPr>
          <a:xfrm>
            <a:off x="320040" y="1143000"/>
            <a:ext cx="11521440" cy="5303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Chart: Testing, Validation &amp; Monitoring</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NIST §3.2 — TEVV continuous across the AI lifecycle (NIST Fig. 3)</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pic>
        <p:nvPicPr>
          <p:cNvPr id="6" name="Picture 5" descr="chart3_tevv_monitoring.png"/>
          <p:cNvPicPr>
            <a:picLocks noChangeAspect="1"/>
          </p:cNvPicPr>
          <p:nvPr/>
        </p:nvPicPr>
        <p:blipFill>
          <a:blip r:embed="rId2"/>
          <a:stretch>
            <a:fillRect/>
          </a:stretch>
        </p:blipFill>
        <p:spPr>
          <a:xfrm>
            <a:off x="320040" y="1143000"/>
            <a:ext cx="11521440" cy="5303520"/>
          </a:xfrm>
          <a:prstGeom prst="rect">
            <a:avLst/>
          </a:prstGeom>
        </p:spPr>
      </p:pic>
      <p:sp>
        <p:nvSpPr>
          <p:cNvPr id="7" name="TextBox 6"/>
          <p:cNvSpPr txBox="1"/>
          <p:nvPr/>
        </p:nvSpPr>
        <p:spPr>
          <a:xfrm>
            <a:off x="548640" y="6263640"/>
            <a:ext cx="10972800" cy="320040"/>
          </a:xfrm>
          <a:prstGeom prst="rect">
            <a:avLst/>
          </a:prstGeom>
          <a:noFill/>
        </p:spPr>
        <p:txBody>
          <a:bodyPr wrap="none">
            <a:spAutoFit/>
          </a:bodyPr>
          <a:lstStyle/>
          <a:p>
            <a:pPr>
              <a:defRPr sz="1000" i="1">
                <a:solidFill>
                  <a:srgbClr val="71859B"/>
                </a:solidFill>
              </a:defRPr>
            </a:pPr>
            <a:r>
              <a:rPr dirty="0"/>
              <a:t>Assignment 1.3 targets: Bias Testing &gt;95% | FPR &lt;5% | Human Review 100% critical | Explainability 90%+ | Governance 100%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Tools, Processes &amp; Engagement for AI Fairness Trust</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NIST §3.3 — human factors and multi-stakeholder governance</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sp>
        <p:nvSpPr>
          <p:cNvPr id="6" name="TextBox 5"/>
          <p:cNvSpPr txBox="1"/>
          <p:nvPr/>
        </p:nvSpPr>
        <p:spPr>
          <a:xfrm>
            <a:off x="731520" y="1280160"/>
            <a:ext cx="10789920" cy="5029200"/>
          </a:xfrm>
          <a:prstGeom prst="rect">
            <a:avLst/>
          </a:prstGeom>
          <a:noFill/>
        </p:spPr>
        <p:txBody>
          <a:bodyPr wrap="square">
            <a:spAutoFit/>
          </a:bodyPr>
          <a:lstStyle/>
          <a:p>
            <a:pPr>
              <a:spcBef>
                <a:spcPts val="800"/>
              </a:spcBef>
              <a:spcAft>
                <a:spcPts val="400"/>
              </a:spcAft>
              <a:defRPr sz="1500">
                <a:solidFill>
                  <a:srgbClr val="2D3748"/>
                </a:solidFill>
              </a:defRPr>
            </a:pPr>
            <a:r>
              <a:t>AI Review Board with diverse membership for pre-release bias sign-off (multi-stakeholder approach, NIST §3.3.2)</a:t>
            </a:r>
          </a:p>
          <a:p>
            <a:pPr>
              <a:spcBef>
                <a:spcPts val="800"/>
              </a:spcBef>
              <a:spcAft>
                <a:spcPts val="400"/>
              </a:spcAft>
              <a:defRPr sz="1500">
                <a:solidFill>
                  <a:srgbClr val="2D3748"/>
                </a:solidFill>
              </a:defRPr>
            </a:pPr>
            <a:r>
              <a:t>Model cards documenting intended use, limitations, subgroup performance, and dataset fit (NIST §3.1.2)</a:t>
            </a:r>
          </a:p>
          <a:p>
            <a:pPr>
              <a:spcBef>
                <a:spcPts val="800"/>
              </a:spcBef>
              <a:spcAft>
                <a:spcPts val="400"/>
              </a:spcAft>
              <a:defRPr sz="1500">
                <a:solidFill>
                  <a:srgbClr val="2D3748"/>
                </a:solidFill>
              </a:defRPr>
            </a:pPr>
            <a:r>
              <a:t>Bias Impact Assessments at design stage — socio-technical analysis before development begins</a:t>
            </a:r>
          </a:p>
          <a:p>
            <a:pPr>
              <a:spcBef>
                <a:spcPts val="800"/>
              </a:spcBef>
              <a:spcAft>
                <a:spcPts val="400"/>
              </a:spcAft>
              <a:defRPr sz="1500">
                <a:solidFill>
                  <a:srgbClr val="2D3748"/>
                </a:solidFill>
              </a:defRPr>
            </a:pPr>
            <a:r>
              <a:t>Participatory design: SOC analysts and customers engaged before high-risk AI is built (NIST human-centered design guidance)</a:t>
            </a:r>
          </a:p>
          <a:p>
            <a:pPr>
              <a:spcBef>
                <a:spcPts val="800"/>
              </a:spcBef>
              <a:spcAft>
                <a:spcPts val="400"/>
              </a:spcAft>
              <a:defRPr sz="1500">
                <a:solidFill>
                  <a:srgbClr val="2D3748"/>
                </a:solidFill>
              </a:defRPr>
            </a:pPr>
            <a:r>
              <a:t>Customer and analyst feedback channels to report perceived unfair or unexplained AI decisions</a:t>
            </a:r>
          </a:p>
          <a:p>
            <a:pPr>
              <a:spcBef>
                <a:spcPts val="800"/>
              </a:spcBef>
              <a:spcAft>
                <a:spcPts val="400"/>
              </a:spcAft>
              <a:defRPr sz="1500">
                <a:solidFill>
                  <a:srgbClr val="2D3748"/>
                </a:solidFill>
              </a:defRPr>
            </a:pPr>
            <a:r>
              <a:t>Employee bias-awareness training for labelers, ML engineers, and SOC operators (Amazon recruiting case lesson)</a:t>
            </a:r>
          </a:p>
          <a:p>
            <a:pPr>
              <a:spcBef>
                <a:spcPts val="800"/>
              </a:spcBef>
              <a:spcAft>
                <a:spcPts val="400"/>
              </a:spcAft>
              <a:defRPr sz="1500">
                <a:solidFill>
                  <a:srgbClr val="2D3748"/>
                </a:solidFill>
              </a:defRPr>
            </a:pPr>
            <a:r>
              <a:t>External audit / red-team for independent fairness and adversarial testing annually</a:t>
            </a:r>
          </a:p>
          <a:p>
            <a:pPr>
              <a:spcBef>
                <a:spcPts val="800"/>
              </a:spcBef>
              <a:spcAft>
                <a:spcPts val="400"/>
              </a:spcAft>
              <a:defRPr sz="1500">
                <a:solidFill>
                  <a:srgbClr val="2D3748"/>
                </a:solidFill>
              </a:defRPr>
            </a:pPr>
            <a:r>
              <a:t>Transparent disclosures: which decisions use AI, what data is involved, how to request human review</a:t>
            </a:r>
          </a:p>
          <a:p>
            <a:pPr>
              <a:spcBef>
                <a:spcPts val="800"/>
              </a:spcBef>
              <a:spcAft>
                <a:spcPts val="400"/>
              </a:spcAft>
              <a:defRPr sz="1500">
                <a:solidFill>
                  <a:srgbClr val="2D3748"/>
                </a:solidFill>
              </a:defRPr>
            </a:pPr>
            <a:r>
              <a:t>Documented appeal / override process for automated containment or vendor scoring outcomes</a:t>
            </a:r>
          </a:p>
          <a:p>
            <a:pPr>
              <a:spcBef>
                <a:spcPts val="800"/>
              </a:spcBef>
              <a:spcAft>
                <a:spcPts val="400"/>
              </a:spcAft>
              <a:defRPr sz="1500">
                <a:solidFill>
                  <a:srgbClr val="2D3748"/>
                </a:solidFill>
              </a:defRPr>
            </a:pPr>
            <a:r>
              <a:t>Kill-switch and rollback if fairness metrics fail — human authority retained per Assignment 1.3 ethics statement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Reflection</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Difficulties and open questions from Workshop 3</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sp>
        <p:nvSpPr>
          <p:cNvPr id="6" name="TextBox 5"/>
          <p:cNvSpPr txBox="1"/>
          <p:nvPr/>
        </p:nvSpPr>
        <p:spPr>
          <a:xfrm>
            <a:off x="731520" y="1325880"/>
            <a:ext cx="10789920" cy="4846320"/>
          </a:xfrm>
          <a:prstGeom prst="rect">
            <a:avLst/>
          </a:prstGeom>
          <a:noFill/>
        </p:spPr>
        <p:txBody>
          <a:bodyPr wrap="square">
            <a:spAutoFit/>
          </a:bodyPr>
          <a:lstStyle/>
          <a:p>
            <a:pPr>
              <a:spcBef>
                <a:spcPts val="800"/>
              </a:spcBef>
              <a:spcAft>
                <a:spcPts val="400"/>
              </a:spcAft>
              <a:defRPr sz="1600">
                <a:solidFill>
                  <a:srgbClr val="2D3748"/>
                </a:solidFill>
              </a:defRPr>
            </a:pPr>
            <a:r>
              <a:t>NIST SP 1270 showed me that bias is not just a dataset problem — systemic and human factors matter as much as algorithms, which makes cybersecurity AI harder to govern.</a:t>
            </a:r>
          </a:p>
          <a:p>
            <a:pPr>
              <a:spcBef>
                <a:spcPts val="800"/>
              </a:spcBef>
              <a:spcAft>
                <a:spcPts val="400"/>
              </a:spcAft>
              <a:defRPr sz="1600">
                <a:solidFill>
                  <a:srgbClr val="2D3748"/>
                </a:solidFill>
              </a:defRPr>
            </a:pPr>
            <a:r>
              <a:t>The Amazon recruiting case and NIST's proxy-variable guidance (§3.2.1) raised a concern: org size or geography may correlate with threat patterns but using them as features could unfairly burden certain customer segments.</a:t>
            </a:r>
          </a:p>
          <a:p>
            <a:pPr>
              <a:spcBef>
                <a:spcPts val="800"/>
              </a:spcBef>
              <a:spcAft>
                <a:spcPts val="400"/>
              </a:spcAft>
              <a:defRPr sz="1600">
                <a:solidFill>
                  <a:srgbClr val="2D3748"/>
                </a:solidFill>
              </a:defRPr>
            </a:pPr>
            <a:r>
              <a:t>NIST emphasizes that fairness metrics can conflict — improving parity for one subgroup can harm another — and I am still unsure which metric SentinelOneX should prioritize in SOC triage.</a:t>
            </a:r>
          </a:p>
          <a:p>
            <a:pPr>
              <a:spcBef>
                <a:spcPts val="800"/>
              </a:spcBef>
              <a:spcAft>
                <a:spcPts val="400"/>
              </a:spcAft>
              <a:defRPr sz="1600">
                <a:solidFill>
                  <a:srgbClr val="2D3748"/>
                </a:solidFill>
              </a:defRPr>
            </a:pPr>
            <a:r>
              <a:t>The socio-technical lens from NIST challenged my assumption that &gt;95% bias testing alone ensures fairness; statistical methods are necessary but not sufficient without stakeholder engagement.</a:t>
            </a:r>
          </a:p>
          <a:p>
            <a:pPr>
              <a:spcBef>
                <a:spcPts val="800"/>
              </a:spcBef>
              <a:spcAft>
                <a:spcPts val="400"/>
              </a:spcAft>
              <a:defRPr sz="1600">
                <a:solidFill>
                  <a:srgbClr val="2D3748"/>
                </a:solidFill>
              </a:defRPr>
            </a:pPr>
            <a:r>
              <a:t>Open question: How do we perform continuous TEVV across the full AI lifecycle without slowing incident response when adversaries exploit model blind spots?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References</a:t>
            </a:r>
          </a:p>
        </p:txBody>
      </p:sp>
      <p:sp>
        <p:nvSpPr>
          <p:cNvPr id="4" name="TextBox 3"/>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Bias Design</a:t>
            </a:r>
          </a:p>
        </p:txBody>
      </p:sp>
      <p:sp>
        <p:nvSpPr>
          <p:cNvPr id="5" name="TextBox 4"/>
          <p:cNvSpPr txBox="1"/>
          <p:nvPr/>
        </p:nvSpPr>
        <p:spPr>
          <a:xfrm>
            <a:off x="914400" y="1645920"/>
            <a:ext cx="10058400" cy="4389120"/>
          </a:xfrm>
          <a:prstGeom prst="rect">
            <a:avLst/>
          </a:prstGeom>
          <a:noFill/>
        </p:spPr>
        <p:txBody>
          <a:bodyPr wrap="none">
            <a:spAutoFit/>
          </a:bodyPr>
          <a:lstStyle/>
          <a:p>
            <a:pPr>
              <a:spcBef>
                <a:spcPts val="800"/>
              </a:spcBef>
              <a:defRPr sz="1500">
                <a:solidFill>
                  <a:srgbClr val="2D3748"/>
                </a:solidFill>
              </a:defRPr>
            </a:pPr>
            <a:r>
              <a:t>National Institute of Standards and Technology. (2022). Towards a Standard for Identifying and Managing Bias in Artificial Intelligence (NIST SP 1270). https://doi.org/10.6028/NIST.SP.1270</a:t>
            </a:r>
          </a:p>
          <a:p>
            <a:pPr>
              <a:spcBef>
                <a:spcPts val="800"/>
              </a:spcBef>
              <a:defRPr sz="1500">
                <a:solidFill>
                  <a:srgbClr val="2D3748"/>
                </a:solidFill>
              </a:defRPr>
            </a:pPr>
            <a:r>
              <a:t>National Institute of Standards and Technology. (2023). AI Risk Management Framework 1.0.</a:t>
            </a:r>
          </a:p>
          <a:p>
            <a:pPr>
              <a:spcBef>
                <a:spcPts val="800"/>
              </a:spcBef>
              <a:defRPr sz="1500">
                <a:solidFill>
                  <a:srgbClr val="2D3748"/>
                </a:solidFill>
              </a:defRPr>
            </a:pPr>
            <a:r>
              <a:t>Amazon AI recruiting tool case study — CAIO Time-Travel Simulation (Workshop 3).</a:t>
            </a:r>
          </a:p>
          <a:p>
            <a:pPr>
              <a:spcBef>
                <a:spcPts val="800"/>
              </a:spcBef>
              <a:defRPr sz="1500">
                <a:solidFill>
                  <a:srgbClr val="2D3748"/>
                </a:solidFill>
              </a:defRPr>
            </a:pPr>
            <a:r>
              <a:t>Buolamwini, J., &amp; Gebru, T. (2018). Gender Shades: Intersectional accuracy disparities in commercial gender classification.</a:t>
            </a:r>
          </a:p>
          <a:p>
            <a:pPr>
              <a:spcBef>
                <a:spcPts val="800"/>
              </a:spcBef>
              <a:defRPr sz="1500">
                <a:solidFill>
                  <a:srgbClr val="2D3748"/>
                </a:solidFill>
              </a:defRPr>
            </a:pPr>
            <a:r>
              <a:t>SentinelOneX Security AI Ethics Statement — Assignment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952</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Arun Kumar Vallala</cp:lastModifiedBy>
  <cp:revision>3</cp:revision>
  <dcterms:created xsi:type="dcterms:W3CDTF">2013-01-27T09:14:16Z</dcterms:created>
  <dcterms:modified xsi:type="dcterms:W3CDTF">2026-06-18T00:44:30Z</dcterms:modified>
  <cp:category/>
</cp:coreProperties>
</file>