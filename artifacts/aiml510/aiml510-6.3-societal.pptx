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548235" y="1188720"/>
            <a:ext cx="4882169" cy="2369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rPr dirty="0" err="1"/>
              <a:t>CompanionAI</a:t>
            </a:r>
            <a:r>
              <a:rPr dirty="0"/>
              <a:t> Elara</a:t>
            </a:r>
            <a:br>
              <a:rPr dirty="0"/>
            </a:br>
            <a:r>
              <a:rPr dirty="0"/>
              <a:t>Societal Considerations</a:t>
            </a:r>
            <a:endParaRPr lang="en-US" dirty="0"/>
          </a:p>
          <a:p>
            <a:pPr algn="ctr">
              <a:defRPr sz="3800" b="1">
                <a:solidFill>
                  <a:srgbClr val="FFFFFF"/>
                </a:solidFill>
              </a:defRPr>
            </a:pPr>
            <a:endParaRPr dirty="0"/>
          </a:p>
          <a:p>
            <a:pPr algn="ctr">
              <a:defRPr sz="1700">
                <a:solidFill>
                  <a:srgbClr val="CBD5E0"/>
                </a:solidFill>
              </a:defRPr>
            </a:pPr>
            <a:r>
              <a:rPr dirty="0"/>
              <a:t>RAI Framework Analysis — Assignment 6.3</a:t>
            </a:r>
          </a:p>
          <a:p>
            <a:pPr algn="ctr">
              <a:defRPr sz="1700">
                <a:solidFill>
                  <a:srgbClr val="CBD5E0"/>
                </a:solidFill>
              </a:defRPr>
            </a:pPr>
            <a:r>
              <a:rPr dirty="0"/>
              <a:t>Arun Kumar Vallala | AIML-510-01 |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RAI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AEC0"/>
                </a:solidFill>
              </a:defRPr>
            </a:pPr>
            <a:r>
              <a:t>Societal, ethical, and vulnerable-population factors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859B"/>
                </a:solidFill>
              </a:defRPr>
            </a:pPr>
            <a:r>
              <a:t>CompanionAI Elara | RAI Societal Analysis | AIML-510-01</a:t>
            </a:r>
          </a:p>
        </p:txBody>
      </p:sp>
      <p:pic>
        <p:nvPicPr>
          <p:cNvPr id="6" name="Picture 5" descr="chart_rai_consider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15568"/>
            <a:ext cx="1152144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Specific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AEC0"/>
                </a:solidFill>
              </a:defRPr>
            </a:pPr>
            <a:r>
              <a:t>Documented pilot outcomes and societal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859B"/>
                </a:solidFill>
              </a:defRPr>
            </a:pPr>
            <a:r>
              <a:t>CompanionAI Elara | RAI Societal Analysis | AIML-510-01</a:t>
            </a:r>
          </a:p>
        </p:txBody>
      </p:sp>
      <p:pic>
        <p:nvPicPr>
          <p:cNvPr id="6" name="Picture 5" descr="chart_benef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15568"/>
            <a:ext cx="11521440" cy="61036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Specific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AEC0"/>
                </a:solidFill>
              </a:defRPr>
            </a:pPr>
            <a:r>
              <a:t>Observed and anticipated harms from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859B"/>
                </a:solidFill>
              </a:defRPr>
            </a:pPr>
            <a:r>
              <a:t>CompanionAI Elara | RAI Societal Analysis | AIML-510-01</a:t>
            </a:r>
          </a:p>
        </p:txBody>
      </p:sp>
      <p:pic>
        <p:nvPicPr>
          <p:cNvPr id="6" name="Picture 5" descr="chart_ri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15568"/>
            <a:ext cx="11521440" cy="61036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Recommended Way 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AEC0"/>
                </a:solidFill>
              </a:defRPr>
            </a:pPr>
            <a:r>
              <a:t>Constrained deployment — supplement, never substitute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859B"/>
                </a:solidFill>
              </a:defRPr>
            </a:pPr>
            <a:r>
              <a:t>CompanionAI Elara | RAI Societal Analysis | AIML-510-01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300">
                <a:solidFill>
                  <a:srgbClr val="2D3748"/>
                </a:solidFill>
              </a:defRPr>
            </a:pPr>
            <a:r>
              <a:t>Continue Elara ONLY as a constrained supplement to human care — not a replacement. Halt scale-up until safeguards are verified.</a:t>
            </a:r>
          </a:p>
          <a:p>
            <a:pPr>
              <a:spcBef>
                <a:spcPts val="300"/>
              </a:spcBef>
              <a:defRPr sz="1300">
                <a:solidFill>
                  <a:srgbClr val="2D3748"/>
                </a:solidFill>
              </a:defRPr>
            </a:pPr>
            <a:r>
              <a:t>Mandatory disclosure: Elara must clearly and repeatedly identify itself as AI; no anthropomorphic language implying friendship, love, or human empathy.</a:t>
            </a:r>
          </a:p>
          <a:p>
            <a:pPr>
              <a:spcBef>
                <a:spcPts val="300"/>
              </a:spcBef>
              <a:defRPr sz="1300">
                <a:solidFill>
                  <a:srgbClr val="2D3748"/>
                </a:solidFill>
              </a:defRPr>
            </a:pPr>
            <a:r>
              <a:t>Human contact minimums: Require documented weekly in-person family or caregiver visits; Elara usage dashboards shared with designated family members.</a:t>
            </a:r>
          </a:p>
          <a:p>
            <a:pPr>
              <a:spcBef>
                <a:spcPts val="300"/>
              </a:spcBef>
              <a:defRPr sz="1300">
                <a:solidFill>
                  <a:srgbClr val="2D3748"/>
                </a:solidFill>
              </a:defRPr>
            </a:pPr>
            <a:r>
              <a:t>Privacy limits: Collect only clinically necessary emotional/behavioral data; default opt-out for non-essential analytics; no sale of emotional profiles.</a:t>
            </a:r>
          </a:p>
          <a:p>
            <a:pPr>
              <a:spcBef>
                <a:spcPts val="300"/>
              </a:spcBef>
              <a:defRPr sz="1300">
                <a:solidFill>
                  <a:srgbClr val="2D3748"/>
                </a:solidFill>
              </a:defRPr>
            </a:pPr>
            <a:r>
              <a:t>Clinical boundary: Position Elara as a wellness/monitoring tool — not therapy. Clinician review required before any intervention based on AI emotion scores (Markkula Center, 2021).</a:t>
            </a:r>
          </a:p>
          <a:p>
            <a:pPr>
              <a:spcBef>
                <a:spcPts val="300"/>
              </a:spcBef>
              <a:defRPr sz="1300">
                <a:solidFill>
                  <a:srgbClr val="2D3748"/>
                </a:solidFill>
              </a:defRPr>
            </a:pPr>
            <a:r>
              <a:t>Anti-replacement design: Disable features that encourage users to prefer Elara over humans; no gamification of interaction time.</a:t>
            </a:r>
          </a:p>
          <a:p>
            <a:pPr>
              <a:spcBef>
                <a:spcPts val="300"/>
              </a:spcBef>
              <a:defRPr sz="1300">
                <a:solidFill>
                  <a:srgbClr val="2D3748"/>
                </a:solidFill>
              </a:defRPr>
            </a:pPr>
            <a:r>
              <a:t>Independent ethics review: Third-party audit of addiction potential, deception risk, and family-visit impact before expanding beyond pilot.</a:t>
            </a:r>
          </a:p>
          <a:p>
            <a:pPr>
              <a:spcBef>
                <a:spcPts val="300"/>
              </a:spcBef>
              <a:defRPr sz="1300">
                <a:solidFill>
                  <a:srgbClr val="2D3748"/>
                </a:solidFill>
              </a:defRPr>
            </a:pPr>
            <a:endParaRPr/>
          </a:p>
          <a:p>
            <a:pPr>
              <a:spcBef>
                <a:spcPts val="300"/>
              </a:spcBef>
              <a:defRPr sz="1300">
                <a:solidFill>
                  <a:srgbClr val="2D3748"/>
                </a:solidFill>
              </a:defRPr>
            </a:pPr>
            <a:r>
              <a:t>Justification: Postman (1992) warns in Technopoly that unchecked technology reshapes culture and displaces human meaning — Elara's family-visit decline is exactly this pattern. The Markkula Center (2021) requires that mental-health-adjacent AI preserve human therapeutic relationships, ensure informed consent, and protect vulnerable users from believing AI connection equals human connection. Elara's 70% mood improvement is real, but societal harm from permanent AI substitution outweighs benefit without these guardrails.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AEC0"/>
                </a:solidFill>
              </a:defRPr>
            </a:pPr>
            <a:r>
              <a:t>APA format — cited in recommendation justification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859B"/>
                </a:solidFill>
              </a:defRPr>
            </a:pPr>
            <a:r>
              <a:t>CompanionAI Elara | RAI Societal Analysis | AIML-510-01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2D3748"/>
                </a:solidFill>
              </a:defRPr>
            </a:pPr>
            <a:r>
              <a:t>Markkula Center for Applied Ethics. (2021). Ethics of AI applications for mental health care. Santa Clara University. https://www.scu.edu/ethics/focus-areas/technology-ethics/ethics-of-ai-applications-for-mental-health-care/</a:t>
            </a:r>
          </a:p>
          <a:p>
            <a:pPr>
              <a:spcBef>
                <a:spcPts val="800"/>
              </a:spcBef>
              <a:defRPr sz="1300">
                <a:solidFill>
                  <a:srgbClr val="2D3748"/>
                </a:solidFill>
              </a:defRPr>
            </a:pPr>
            <a:r>
              <a:t>Postman, N. (1992). Technopoly: The surrender of culture to technology. Vintage Books.</a:t>
            </a:r>
          </a:p>
          <a:p>
            <a:pPr>
              <a:spcBef>
                <a:spcPts val="800"/>
              </a:spcBef>
              <a:defRPr sz="1300">
                <a:solidFill>
                  <a:srgbClr val="2D3748"/>
                </a:solidFill>
              </a:defRPr>
            </a:pPr>
            <a:r>
              <a:t>Turkle, S. (2017). Alone together: Why we expect more from technology and less from each other (Revised ed.). Basic Books.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AEC0"/>
                </a:solidFill>
              </a:defRPr>
            </a:pPr>
            <a:r>
              <a:t>Difficulties and open questions — Workshop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859B"/>
                </a:solidFill>
              </a:defRPr>
            </a:pPr>
            <a:r>
              <a:t>CompanionAI Elara | RAI Societal Analysis | AIML-510-01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2D3748"/>
                </a:solidFill>
              </a:defRPr>
            </a:pPr>
            <a:r>
              <a:t>Workshop 6 challenged me to see RAI beyond technical metrics — Elara shows that a product can improve mood data while still harming society by displacing human relationships.</a:t>
            </a:r>
          </a:p>
          <a:p>
            <a:pPr>
              <a:spcBef>
                <a:spcPts val="800"/>
              </a:spcBef>
              <a:defRPr sz="1600">
                <a:solidFill>
                  <a:srgbClr val="2D3748"/>
                </a:solidFill>
              </a:defRPr>
            </a:pPr>
            <a:r>
              <a:t>The tension between Postman's Technopoly and Elara's genuine health benefits was the hardest part: 20% fewer emergencies is meaningful, but so is families visiting less.</a:t>
            </a:r>
          </a:p>
          <a:p>
            <a:pPr>
              <a:spcBef>
                <a:spcPts val="800"/>
              </a:spcBef>
              <a:defRPr sz="1600">
                <a:solidFill>
                  <a:srgbClr val="2D3748"/>
                </a:solidFill>
              </a:defRPr>
            </a:pPr>
            <a:r>
              <a:t>Connecting 6.2 (customer authenticity) to 6.3 (societal impact) clarified that the same Golden Rule applies — if I would not want my parent talking to a robot instead of me, CompanionAI should not design for that outcome.</a:t>
            </a:r>
          </a:p>
          <a:p>
            <a:pPr>
              <a:spcBef>
                <a:spcPts val="800"/>
              </a:spcBef>
              <a:defRPr sz="1600">
                <a:solidFill>
                  <a:srgbClr val="2D3748"/>
                </a:solidFill>
              </a:defRPr>
            </a:pPr>
            <a:r>
              <a:t>Open question: Who decides when AI companionship crosses from 'support tool' to 'emotional deception' for cognitively declining users who cannot give fully informed consent?</a:t>
            </a:r>
          </a:p>
          <a:p>
            <a:pPr>
              <a:spcBef>
                <a:spcPts val="800"/>
              </a:spcBef>
              <a:defRPr sz="1600">
                <a:solidFill>
                  <a:srgbClr val="2D3748"/>
                </a:solidFill>
              </a:defRPr>
            </a:pPr>
            <a:r>
              <a:t>I also wonder whether regulation can keep pace — social media's mental-health impact took years to acknowledge; Elara may follow the same pattern unless RAI leaders act proactively.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608</Words>
  <Application>Microsoft Office PowerPoint</Application>
  <PresentationFormat>Widescreen</PresentationFormat>
  <Paragraphs>39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Arun Kumar Vallala</cp:lastModifiedBy>
  <cp:revision>2</cp:revision>
  <dcterms:created xsi:type="dcterms:W3CDTF">2013-01-27T09:14:16Z</dcterms:created>
  <dcterms:modified xsi:type="dcterms:W3CDTF">2026-07-11T18:27:58Z</dcterms:modified>
  <cp:category/>
</cp:coreProperties>
</file>