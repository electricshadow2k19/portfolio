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Responsible AI Governance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9868" y="3017520"/>
            <a:ext cx="3958904" cy="21544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400"/>
              </a:spcAft>
              <a:defRPr sz="1800">
                <a:solidFill>
                  <a:srgbClr val="CBD5E0"/>
                </a:solidFill>
              </a:defRPr>
            </a:pPr>
            <a:r>
              <a:rPr dirty="0" err="1"/>
              <a:t>SentinelOneX</a:t>
            </a:r>
            <a:r>
              <a:rPr dirty="0"/>
              <a:t> Security</a:t>
            </a:r>
          </a:p>
          <a:p>
            <a:pPr algn="ctr">
              <a:spcAft>
                <a:spcPts val="400"/>
              </a:spcAft>
              <a:defRPr sz="1600">
                <a:solidFill>
                  <a:srgbClr val="CBD5E0"/>
                </a:solidFill>
              </a:defRPr>
            </a:pPr>
            <a:r>
              <a:rPr dirty="0"/>
              <a:t>AIML-510-01 — Responsible Application of AI</a:t>
            </a:r>
          </a:p>
          <a:p>
            <a:pPr algn="ctr">
              <a:spcAft>
                <a:spcPts val="400"/>
              </a:spcAft>
              <a:defRPr sz="1600">
                <a:solidFill>
                  <a:srgbClr val="CBD5E0"/>
                </a:solidFill>
              </a:defRPr>
            </a:pPr>
            <a:endParaRPr dirty="0"/>
          </a:p>
          <a:p>
            <a:pPr algn="ctr">
              <a:spcAft>
                <a:spcPts val="400"/>
              </a:spcAft>
              <a:defRPr sz="1600">
                <a:solidFill>
                  <a:srgbClr val="CBD5E0"/>
                </a:solidFill>
              </a:defRPr>
            </a:pPr>
            <a:r>
              <a:rPr dirty="0"/>
              <a:t>Arun Kumar Vallala</a:t>
            </a:r>
          </a:p>
          <a:p>
            <a:pPr algn="ctr">
              <a:spcAft>
                <a:spcPts val="400"/>
              </a:spcAft>
              <a:defRPr sz="1600">
                <a:solidFill>
                  <a:srgbClr val="CBD5E0"/>
                </a:solidFill>
              </a:defRPr>
            </a:pPr>
            <a:r>
              <a:rPr dirty="0"/>
              <a:t>Indiana Wesleyan University</a:t>
            </a:r>
          </a:p>
          <a:p>
            <a:pPr algn="ctr">
              <a:spcAft>
                <a:spcPts val="400"/>
              </a:spcAft>
              <a:defRPr sz="1600">
                <a:solidFill>
                  <a:srgbClr val="CBD5E0"/>
                </a:solidFill>
              </a:defRPr>
            </a:pPr>
            <a:r>
              <a:rPr dirty="0"/>
              <a:t>Instructor: Armando V. Tauro, Ph.D.</a:t>
            </a:r>
          </a:p>
          <a:p>
            <a:pPr algn="ctr">
              <a:spcAft>
                <a:spcPts val="400"/>
              </a:spcAft>
              <a:defRPr sz="1600">
                <a:solidFill>
                  <a:srgbClr val="CBD5E0"/>
                </a:solidFill>
              </a:defRPr>
            </a:pPr>
            <a:r>
              <a:t>June 0</a:t>
            </a:r>
            <a:r>
              <a:rPr lang="en-US"/>
              <a:t>8</a:t>
            </a:r>
            <a:r>
              <a:t>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Top 7 Responsible AI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Key governance roles for SentinelOneX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SentinelOneX Security | Responsible AI Governance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 marL="73152" marR="73152" marT="36576" marB="36576" anchor="ctr">
                    <a:solidFill>
                      <a:srgbClr val="007A8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Responsibilities</a:t>
                      </a:r>
                    </a:p>
                  </a:txBody>
                  <a:tcPr marL="73152" marR="73152" marT="36576" marB="36576" anchor="ctr">
                    <a:solidFill>
                      <a:srgbClr val="007A8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Skills</a:t>
                      </a:r>
                    </a:p>
                  </a:txBody>
                  <a:tcPr marL="73152" marR="73152" marT="36576" marB="36576" anchor="ctr">
                    <a:solidFill>
                      <a:srgbClr val="007A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CTO (Executive Sponsor)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AI strategy, funding, accountability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Leadership, AI governance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AI Governance Manager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Policy ownership, compliance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Risk management, governance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AI Ethics Officer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Ethical reviews, bias oversight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Ethics, stakeholder analysis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AI Security Architect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Secure AI systems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Cybersecurity, cloud security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AI/ML Lead Engineer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Build AI models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ML, Python, data science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AI Risk &amp; Compliance Analyst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Audits, controls, documentation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Compliance, NIST, privacy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SOC AI Product Manager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AI use case management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Product management, security operations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Governance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Organizational hierarchy for AI oversight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SentinelOneX Security | Responsible AI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371600"/>
            <a:ext cx="2560320" cy="502920"/>
          </a:xfrm>
          <a:prstGeom prst="roundRect">
            <a:avLst/>
          </a:prstGeom>
          <a:solidFill>
            <a:srgbClr val="2C5282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Board of Directors</a:t>
            </a:r>
          </a:p>
        </p:txBody>
      </p:sp>
      <p:sp>
        <p:nvSpPr>
          <p:cNvPr id="7" name="Down Arrow 6"/>
          <p:cNvSpPr/>
          <p:nvPr/>
        </p:nvSpPr>
        <p:spPr>
          <a:xfrm>
            <a:off x="5715000" y="1920240"/>
            <a:ext cx="274320" cy="320040"/>
          </a:xfrm>
          <a:prstGeom prst="downArrow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937760" y="2286000"/>
            <a:ext cx="1828800" cy="502920"/>
          </a:xfrm>
          <a:prstGeom prst="roundRect">
            <a:avLst/>
          </a:prstGeom>
          <a:solidFill>
            <a:srgbClr val="007A87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CTO</a:t>
            </a:r>
          </a:p>
        </p:txBody>
      </p:sp>
      <p:sp>
        <p:nvSpPr>
          <p:cNvPr id="9" name="Down Arrow 8"/>
          <p:cNvSpPr/>
          <p:nvPr/>
        </p:nvSpPr>
        <p:spPr>
          <a:xfrm>
            <a:off x="2788920" y="2834640"/>
            <a:ext cx="274320" cy="228600"/>
          </a:xfrm>
          <a:prstGeom prst="downArrow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011680" y="3063240"/>
            <a:ext cx="1554480" cy="640080"/>
          </a:xfrm>
          <a:prstGeom prst="roundRect">
            <a:avLst/>
          </a:prstGeom>
          <a:solidFill>
            <a:srgbClr val="2C5282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AI Governance</a:t>
            </a:r>
            <a:br/>
            <a:r>
              <a:t>Manager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715000" y="2834640"/>
            <a:ext cx="274320" cy="228600"/>
          </a:xfrm>
          <a:prstGeom prst="downArrow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937760" y="3063240"/>
            <a:ext cx="1554480" cy="640080"/>
          </a:xfrm>
          <a:prstGeom prst="roundRect">
            <a:avLst/>
          </a:prstGeom>
          <a:solidFill>
            <a:srgbClr val="2C5282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AI Ethics</a:t>
            </a:r>
            <a:br/>
            <a:r>
              <a:t>Officer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464040" y="2834640"/>
            <a:ext cx="274320" cy="228600"/>
          </a:xfrm>
          <a:prstGeom prst="downArrow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0" y="3063240"/>
            <a:ext cx="1554480" cy="640080"/>
          </a:xfrm>
          <a:prstGeom prst="roundRect">
            <a:avLst/>
          </a:prstGeom>
          <a:solidFill>
            <a:srgbClr val="2C5282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AI Security</a:t>
            </a:r>
            <a:br/>
            <a:r>
              <a:t>Architect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715000" y="3749039"/>
            <a:ext cx="274320" cy="320040"/>
          </a:xfrm>
          <a:prstGeom prst="downArrow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72000" y="4114800"/>
            <a:ext cx="2560320" cy="502920"/>
          </a:xfrm>
          <a:prstGeom prst="roundRect">
            <a:avLst/>
          </a:prstGeom>
          <a:solidFill>
            <a:srgbClr val="38A169"/>
          </a:solidFill>
          <a:ln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AI Review 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892040"/>
            <a:ext cx="2286000" cy="457200"/>
          </a:xfrm>
          <a:prstGeom prst="roundRect">
            <a:avLst/>
          </a:prstGeom>
          <a:solidFill>
            <a:srgbClr val="4A6FA5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ML Engineers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40" y="4892040"/>
            <a:ext cx="2286000" cy="457200"/>
          </a:xfrm>
          <a:prstGeom prst="roundRect">
            <a:avLst/>
          </a:prstGeom>
          <a:solidFill>
            <a:srgbClr val="4A6FA5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Product Managers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892040"/>
            <a:ext cx="2286000" cy="457200"/>
          </a:xfrm>
          <a:prstGeom prst="roundRect">
            <a:avLst/>
          </a:prstGeom>
          <a:solidFill>
            <a:srgbClr val="4A6FA5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SOC Analysts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4892040"/>
            <a:ext cx="2286000" cy="457200"/>
          </a:xfrm>
          <a:prstGeom prst="roundRect">
            <a:avLst/>
          </a:prstGeom>
          <a:solidFill>
            <a:srgbClr val="4A6FA5"/>
          </a:solidFill>
          <a:ln>
            <a:solidFill>
              <a:srgbClr val="4A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Compliance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893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1859B"/>
                </a:solidFill>
              </a:defRPr>
            </a:pPr>
            <a:r>
              <a:t>The NIST AI RMF identifies governance as the cross-cutting function that informs all AI risk management activities.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Accountability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RACI-style ownership for AI governance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SentinelOneX Security | Responsible AI Governance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701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 marL="73152" marR="73152" marT="36576" marB="36576" anchor="ctr">
                    <a:solidFill>
                      <a:srgbClr val="007A8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Accountable</a:t>
                      </a:r>
                    </a:p>
                  </a:txBody>
                  <a:tcPr marL="73152" marR="73152" marT="36576" marB="36576" anchor="ctr">
                    <a:solidFill>
                      <a:srgbClr val="007A8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Responsible</a:t>
                      </a:r>
                    </a:p>
                  </a:txBody>
                  <a:tcPr marL="73152" marR="73152" marT="36576" marB="36576" anchor="ctr">
                    <a:solidFill>
                      <a:srgbClr val="007A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AI Policy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CTO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AI Governance Manager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Model Approval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AI Review Board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AI Ethics Officer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Security Testing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Security Architect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Security Team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Bias Testing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AI Ethics Officer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ML Team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017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Production Release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CTO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Product Manager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7018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Monitoring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Governance Manager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SOC Team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Internal AI Vetting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End-to-end workflow for internally developed AI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SentinelOneX Security | Responsible AI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325880"/>
            <a:ext cx="3931920" cy="384048"/>
          </a:xfrm>
          <a:prstGeom prst="roundRect">
            <a:avLst/>
          </a:prstGeom>
          <a:solidFill>
            <a:srgbClr val="007A87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Business Request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43600" y="1709928"/>
            <a:ext cx="274320" cy="73152"/>
          </a:xfrm>
          <a:prstGeom prst="downArrow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114800" y="1783080"/>
            <a:ext cx="3931920" cy="384048"/>
          </a:xfrm>
          <a:prstGeom prst="roundRect">
            <a:avLst/>
          </a:prstGeom>
          <a:solidFill>
            <a:srgbClr val="2C5282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Risk Assessment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43600" y="2167128"/>
            <a:ext cx="274320" cy="73152"/>
          </a:xfrm>
          <a:prstGeom prst="downArrow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114800" y="2240280"/>
            <a:ext cx="3931920" cy="384048"/>
          </a:xfrm>
          <a:prstGeom prst="roundRect">
            <a:avLst/>
          </a:prstGeom>
          <a:solidFill>
            <a:srgbClr val="2C5282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Ethics Review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43600" y="2624328"/>
            <a:ext cx="274320" cy="73152"/>
          </a:xfrm>
          <a:prstGeom prst="downArrow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114800" y="2697480"/>
            <a:ext cx="3931920" cy="384048"/>
          </a:xfrm>
          <a:prstGeom prst="roundRect">
            <a:avLst/>
          </a:prstGeom>
          <a:solidFill>
            <a:srgbClr val="2C5282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Data Review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43600" y="3081528"/>
            <a:ext cx="274320" cy="73152"/>
          </a:xfrm>
          <a:prstGeom prst="downArrow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114800" y="3154680"/>
            <a:ext cx="3931920" cy="384048"/>
          </a:xfrm>
          <a:prstGeom prst="roundRect">
            <a:avLst/>
          </a:prstGeom>
          <a:solidFill>
            <a:srgbClr val="2C5282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Model Development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43600" y="3538728"/>
            <a:ext cx="274320" cy="73152"/>
          </a:xfrm>
          <a:prstGeom prst="downArrow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114800" y="3611880"/>
            <a:ext cx="3931920" cy="384048"/>
          </a:xfrm>
          <a:prstGeom prst="roundRect">
            <a:avLst/>
          </a:prstGeom>
          <a:solidFill>
            <a:srgbClr val="2C5282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Bias Testing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43600" y="3995928"/>
            <a:ext cx="274320" cy="73152"/>
          </a:xfrm>
          <a:prstGeom prst="downArrow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114800" y="4069080"/>
            <a:ext cx="3931920" cy="384048"/>
          </a:xfrm>
          <a:prstGeom prst="roundRect">
            <a:avLst/>
          </a:prstGeom>
          <a:solidFill>
            <a:srgbClr val="2C5282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Security Testing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43600" y="4453128"/>
            <a:ext cx="274320" cy="73152"/>
          </a:xfrm>
          <a:prstGeom prst="downArrow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114800" y="4526280"/>
            <a:ext cx="3931920" cy="384048"/>
          </a:xfrm>
          <a:prstGeom prst="roundRect">
            <a:avLst/>
          </a:prstGeom>
          <a:solidFill>
            <a:srgbClr val="007A87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AI Review Board Approval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943600" y="4910328"/>
            <a:ext cx="274320" cy="73152"/>
          </a:xfrm>
          <a:prstGeom prst="downArrow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114800" y="4983480"/>
            <a:ext cx="3931920" cy="384048"/>
          </a:xfrm>
          <a:prstGeom prst="roundRect">
            <a:avLst/>
          </a:prstGeom>
          <a:solidFill>
            <a:srgbClr val="2C5282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Production Deployment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943600" y="5367528"/>
            <a:ext cx="274320" cy="73152"/>
          </a:xfrm>
          <a:prstGeom prst="downArrow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114800" y="5440680"/>
            <a:ext cx="3931920" cy="384048"/>
          </a:xfrm>
          <a:prstGeom prst="roundRect">
            <a:avLst/>
          </a:prstGeom>
          <a:solidFill>
            <a:srgbClr val="007A87"/>
          </a:solidFill>
          <a:ln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Continuous 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722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1859B"/>
                </a:solidFill>
              </a:defRPr>
            </a:pPr>
            <a:r>
              <a:t>The Ethics Toolkit recommends ethical risk sweeping, stakeholder review, pre-mortems, and ongoing feedback loops throughout development.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External AI Procurement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Vendor evaluation for third-party AI (OpenAI, Anthropic, CrowdStrike AI, etc.)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SentinelOneX Security | Responsible AI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325880"/>
            <a:ext cx="3931920" cy="384048"/>
          </a:xfrm>
          <a:prstGeom prst="roundRect">
            <a:avLst/>
          </a:prstGeom>
          <a:solidFill>
            <a:srgbClr val="38A169"/>
          </a:solidFill>
          <a:ln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Vendor Identification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43600" y="1709928"/>
            <a:ext cx="274320" cy="73152"/>
          </a:xfrm>
          <a:prstGeom prst="downArrow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114800" y="1783080"/>
            <a:ext cx="3931920" cy="384048"/>
          </a:xfrm>
          <a:prstGeom prst="roundRect">
            <a:avLst/>
          </a:prstGeom>
          <a:solidFill>
            <a:srgbClr val="2C5282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Security Assessment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43600" y="2167128"/>
            <a:ext cx="274320" cy="73152"/>
          </a:xfrm>
          <a:prstGeom prst="downArrow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114800" y="2240280"/>
            <a:ext cx="3931920" cy="384048"/>
          </a:xfrm>
          <a:prstGeom prst="roundRect">
            <a:avLst/>
          </a:prstGeom>
          <a:solidFill>
            <a:srgbClr val="2C5282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Privacy Assessment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43600" y="2624328"/>
            <a:ext cx="274320" cy="73152"/>
          </a:xfrm>
          <a:prstGeom prst="downArrow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114800" y="2697480"/>
            <a:ext cx="3931920" cy="384048"/>
          </a:xfrm>
          <a:prstGeom prst="roundRect">
            <a:avLst/>
          </a:prstGeom>
          <a:solidFill>
            <a:srgbClr val="2C5282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Ethics Assessment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43600" y="3081528"/>
            <a:ext cx="274320" cy="73152"/>
          </a:xfrm>
          <a:prstGeom prst="downArrow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114800" y="3154680"/>
            <a:ext cx="3931920" cy="384048"/>
          </a:xfrm>
          <a:prstGeom prst="roundRect">
            <a:avLst/>
          </a:prstGeom>
          <a:solidFill>
            <a:srgbClr val="2C5282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Legal Review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43600" y="3538728"/>
            <a:ext cx="274320" cy="73152"/>
          </a:xfrm>
          <a:prstGeom prst="downArrow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114800" y="3611880"/>
            <a:ext cx="3931920" cy="384048"/>
          </a:xfrm>
          <a:prstGeom prst="roundRect">
            <a:avLst/>
          </a:prstGeom>
          <a:solidFill>
            <a:srgbClr val="2C5282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Pilot Testing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43600" y="3995928"/>
            <a:ext cx="274320" cy="73152"/>
          </a:xfrm>
          <a:prstGeom prst="downArrow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114800" y="4069080"/>
            <a:ext cx="3931920" cy="384048"/>
          </a:xfrm>
          <a:prstGeom prst="roundRect">
            <a:avLst/>
          </a:prstGeom>
          <a:solidFill>
            <a:srgbClr val="38A169"/>
          </a:solidFill>
          <a:ln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Risk Approval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43600" y="4453128"/>
            <a:ext cx="274320" cy="73152"/>
          </a:xfrm>
          <a:prstGeom prst="downArrow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114800" y="4526280"/>
            <a:ext cx="3931920" cy="384048"/>
          </a:xfrm>
          <a:prstGeom prst="roundRect">
            <a:avLst/>
          </a:prstGeom>
          <a:solidFill>
            <a:srgbClr val="2C5282"/>
          </a:solidFill>
          <a:ln>
            <a:solidFill>
              <a:srgbClr val="2C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Production Usage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943600" y="4910328"/>
            <a:ext cx="274320" cy="73152"/>
          </a:xfrm>
          <a:prstGeom prst="downArrow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114800" y="4983480"/>
            <a:ext cx="3931920" cy="384048"/>
          </a:xfrm>
          <a:prstGeom prst="roundRect">
            <a:avLst/>
          </a:prstGeom>
          <a:solidFill>
            <a:srgbClr val="38A169"/>
          </a:solidFill>
          <a:ln>
            <a:solidFill>
              <a:srgbClr val="38A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Quarterly Reassessment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722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1859B"/>
                </a:solidFill>
              </a:defRPr>
            </a:pPr>
            <a:r>
              <a:t>NIST emphasizes managing risks from third-party AI systems and vendors, not just internally developed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12-Month Implementation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Phased rollout of responsible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SentinelOneX Security | Responsible AI Governance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0" y="1280160"/>
          <a:ext cx="75895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marL="73152" marR="73152" marT="36576" marB="36576" anchor="ctr">
                    <a:solidFill>
                      <a:srgbClr val="007A8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Activity</a:t>
                      </a:r>
                    </a:p>
                  </a:txBody>
                  <a:tcPr marL="73152" marR="73152" marT="36576" marB="36576" anchor="ctr">
                    <a:solidFill>
                      <a:srgbClr val="007A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1–2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Define AI policies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Hire Governance Manager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Establish AI Review Board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Create risk assessment process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Deploy ethics review workflow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Vendor assessment process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AI inventory creation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KPI dashboard launch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Employee training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Internal audit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Governance maturity review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KPI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Metrics for measuring governance effectiveness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SentinelOneX Security | Responsible AI Governance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45920" y="1371600"/>
          <a:ext cx="8869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4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 marL="73152" marR="73152" marT="36576" marB="36576" anchor="ctr">
                    <a:solidFill>
                      <a:srgbClr val="007A8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 marL="73152" marR="73152" marT="36576" marB="36576" anchor="ctr">
                    <a:solidFill>
                      <a:srgbClr val="007A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AI Systems Reviewed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Ethics Review Completion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High Risk Findings Resolved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&gt;95%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Bias Testing Pass Rate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&gt;95%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Critical Security Findings Closed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Vendor AI Assessments Completed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L="73152" marR="73152" marT="36576" marB="36576" anchor="ctr">
                    <a:solidFill>
                      <a:srgbClr val="E8ED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AI Training Completion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2D3748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893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1859B"/>
                </a:solidFill>
              </a:defRPr>
            </a:pPr>
            <a:r>
              <a:t>NIST recommends governance, measurement, and ongoing management as core functions of trustworthy AI.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EC0"/>
                </a:solidFill>
              </a:defRPr>
            </a:pPr>
            <a:r>
              <a:t>Personal insights on responsible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SentinelOneX Security | Responsible AI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2D3748"/>
                </a:solidFill>
              </a:defRPr>
            </a:pPr>
            <a:r>
              <a:t>Balancing innovation with governance can be difficult.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2D3748"/>
                </a:solidFill>
              </a:defRPr>
            </a:pPr>
            <a:r>
              <a:t>AI risks evolve faster than traditional technology risks.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2D3748"/>
                </a:solidFill>
              </a:defRPr>
            </a:pPr>
            <a:r>
              <a:t>Human oversight remains critical in cybersecurity decisions.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2D3748"/>
                </a:solidFill>
              </a:defRPr>
            </a:pPr>
            <a:r>
              <a:t>Measuring fairness and explainability objectively is challenging.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>
                <a:solidFill>
                  <a:srgbClr val="2D3748"/>
                </a:solidFill>
              </a:defRPr>
            </a:pPr>
            <a:r>
              <a:t>Governance must become part of company culture rather than a compliance exercise.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1859B"/>
                </a:solidFill>
              </a:defRPr>
            </a:pPr>
            <a:r>
              <a:t>SentinelOneX Security | Responsible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601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D3748"/>
                </a:solidFill>
              </a:defRPr>
            </a:pPr>
            <a:r>
              <a:t>Blackman, Ethical Machines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D3748"/>
                </a:solidFill>
              </a:defRPr>
            </a:pPr>
            <a:r>
              <a:t>NIST AI Risk Management Framework 1.0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D3748"/>
                </a:solidFill>
              </a:defRPr>
            </a:pPr>
            <a:r>
              <a:t>Ethics in Technology Practice Toolkit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D3748"/>
                </a:solidFill>
              </a:defRPr>
            </a:pPr>
            <a:r>
              <a:t>Microsoft Responsible AI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D3748"/>
                </a:solidFill>
              </a:defRPr>
            </a:pPr>
            <a:r>
              <a:t>Google AI Principles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D3748"/>
                </a:solidFill>
              </a:defRPr>
            </a:pPr>
            <a:r>
              <a:t>IBM AI Ethics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599</Words>
  <Application>Microsoft Office PowerPoint</Application>
  <PresentationFormat>Widescreen</PresentationFormat>
  <Paragraphs>163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Arun Kumar Vallala</cp:lastModifiedBy>
  <cp:revision>2</cp:revision>
  <dcterms:created xsi:type="dcterms:W3CDTF">2013-01-27T09:14:16Z</dcterms:created>
  <dcterms:modified xsi:type="dcterms:W3CDTF">2026-06-08T22:28:28Z</dcterms:modified>
  <cp:category/>
</cp:coreProperties>
</file>