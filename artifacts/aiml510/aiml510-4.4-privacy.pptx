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05" d="100"/>
          <a:sy n="105" d="100"/>
        </p:scale>
        <p:origin x="798"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6/25/2026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6/25/2026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6/25/2026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6/25/2026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6/25/2026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6/25/2026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B2A4A"/>
        </a:solidFill>
        <a:effectLst/>
      </p:bgPr>
    </p:bg>
    <p:spTree>
      <p:nvGrpSpPr>
        <p:cNvPr id="1" name=""/>
        <p:cNvGrpSpPr/>
        <p:nvPr/>
      </p:nvGrpSpPr>
      <p:grpSpPr>
        <a:xfrm>
          <a:off x="0" y="0"/>
          <a:ext cx="0" cy="0"/>
          <a:chOff x="0" y="0"/>
          <a:chExt cx="0" cy="0"/>
        </a:xfrm>
      </p:grpSpPr>
      <p:sp>
        <p:nvSpPr>
          <p:cNvPr id="2" name="Rectangle 1"/>
          <p:cNvSpPr/>
          <p:nvPr/>
        </p:nvSpPr>
        <p:spPr>
          <a:xfrm>
            <a:off x="0" y="2743200"/>
            <a:ext cx="12191695" cy="73152"/>
          </a:xfrm>
          <a:prstGeom prst="rect">
            <a:avLst/>
          </a:prstGeom>
          <a:solidFill>
            <a:srgbClr val="007A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731520" y="1463040"/>
            <a:ext cx="10515600" cy="1280160"/>
          </a:xfrm>
          <a:prstGeom prst="rect">
            <a:avLst/>
          </a:prstGeom>
          <a:noFill/>
        </p:spPr>
        <p:txBody>
          <a:bodyPr wrap="none">
            <a:spAutoFit/>
          </a:bodyPr>
          <a:lstStyle/>
          <a:p>
            <a:pPr algn="ctr">
              <a:defRPr sz="3800" b="1">
                <a:solidFill>
                  <a:srgbClr val="FFFFFF"/>
                </a:solidFill>
              </a:defRPr>
            </a:pPr>
            <a:r>
              <a:t>RAI Framework Project</a:t>
            </a:r>
            <a:br/>
            <a:r>
              <a:t>Design Considerations</a:t>
            </a:r>
          </a:p>
        </p:txBody>
      </p:sp>
      <p:sp>
        <p:nvSpPr>
          <p:cNvPr id="4" name="TextBox 3"/>
          <p:cNvSpPr txBox="1"/>
          <p:nvPr/>
        </p:nvSpPr>
        <p:spPr>
          <a:xfrm>
            <a:off x="3279122" y="2926080"/>
            <a:ext cx="5420395" cy="1600438"/>
          </a:xfrm>
          <a:prstGeom prst="rect">
            <a:avLst/>
          </a:prstGeom>
          <a:noFill/>
        </p:spPr>
        <p:txBody>
          <a:bodyPr wrap="none">
            <a:spAutoFit/>
          </a:bodyPr>
          <a:lstStyle/>
          <a:p>
            <a:pPr algn="ctr">
              <a:defRPr sz="1800">
                <a:solidFill>
                  <a:srgbClr val="CBD5E0"/>
                </a:solidFill>
              </a:defRPr>
            </a:pPr>
            <a:r>
              <a:rPr dirty="0" err="1"/>
              <a:t>SentinelOneX</a:t>
            </a:r>
            <a:r>
              <a:rPr dirty="0"/>
              <a:t> Security</a:t>
            </a:r>
          </a:p>
          <a:p>
            <a:pPr algn="ctr">
              <a:defRPr sz="1600">
                <a:solidFill>
                  <a:srgbClr val="CBD5E0"/>
                </a:solidFill>
              </a:defRPr>
            </a:pPr>
            <a:r>
              <a:rPr dirty="0"/>
              <a:t>AIML-510-01 — Responsible Application of AI</a:t>
            </a:r>
          </a:p>
          <a:p>
            <a:pPr algn="ctr">
              <a:defRPr sz="1600">
                <a:solidFill>
                  <a:srgbClr val="CBD5E0"/>
                </a:solidFill>
              </a:defRPr>
            </a:pPr>
            <a:r>
              <a:rPr dirty="0"/>
              <a:t>Workshop 4: Data Privacy, Protection &amp; Regulatory Compliance</a:t>
            </a:r>
          </a:p>
          <a:p>
            <a:pPr algn="ctr">
              <a:defRPr sz="1600">
                <a:solidFill>
                  <a:srgbClr val="CBD5E0"/>
                </a:solidFill>
              </a:defRPr>
            </a:pPr>
            <a:endParaRPr dirty="0"/>
          </a:p>
          <a:p>
            <a:pPr algn="ctr">
              <a:defRPr sz="1600">
                <a:solidFill>
                  <a:srgbClr val="CBD5E0"/>
                </a:solidFill>
              </a:defRPr>
            </a:pPr>
            <a:r>
              <a:rPr dirty="0"/>
              <a:t>Arun Kumar Vallala | Indiana Wesleyan University</a:t>
            </a:r>
          </a:p>
          <a:p>
            <a:pPr algn="ctr">
              <a:defRPr sz="1600">
                <a:solidFill>
                  <a:srgbClr val="CBD5E0"/>
                </a:solidFill>
              </a:defRPr>
            </a:pPr>
            <a:r>
              <a:rPr dirty="0"/>
              <a:t>Instructor: Armando V. Tauro, Ph.D. | June</a:t>
            </a:r>
            <a:r>
              <a:rPr lang="en-US" dirty="0"/>
              <a:t> 25,</a:t>
            </a:r>
            <a:r>
              <a:rPr dirty="0"/>
              <a:t> 2026</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Company Overview</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SentinelOneX Security — Assignment 1.3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sp>
        <p:nvSpPr>
          <p:cNvPr id="6" name="TextBox 5"/>
          <p:cNvSpPr txBox="1"/>
          <p:nvPr/>
        </p:nvSpPr>
        <p:spPr>
          <a:xfrm>
            <a:off x="731520" y="1325880"/>
            <a:ext cx="10789920" cy="1828800"/>
          </a:xfrm>
          <a:prstGeom prst="rect">
            <a:avLst/>
          </a:prstGeom>
          <a:noFill/>
        </p:spPr>
        <p:txBody>
          <a:bodyPr wrap="square">
            <a:spAutoFit/>
          </a:bodyPr>
          <a:lstStyle/>
          <a:p>
            <a:pPr>
              <a:spcBef>
                <a:spcPts val="800"/>
              </a:spcBef>
              <a:spcAft>
                <a:spcPts val="400"/>
              </a:spcAft>
              <a:defRPr sz="1600">
                <a:solidFill>
                  <a:srgbClr val="2D3748"/>
                </a:solidFill>
              </a:defRPr>
            </a:pPr>
            <a:r>
              <a:t>Cybersecurity AI company providing AI-powered threat detection, SOC automation, and vendor risk evaluation</a:t>
            </a:r>
          </a:p>
          <a:p>
            <a:pPr>
              <a:spcBef>
                <a:spcPts val="800"/>
              </a:spcBef>
              <a:spcAft>
                <a:spcPts val="400"/>
              </a:spcAft>
              <a:defRPr sz="1600">
                <a:solidFill>
                  <a:srgbClr val="2D3748"/>
                </a:solidFill>
              </a:defRPr>
            </a:pPr>
            <a:r>
              <a:t>Cybersecurity AI can directly impact customer systems, business operations, and sensitive personal data</a:t>
            </a:r>
          </a:p>
          <a:p>
            <a:pPr>
              <a:spcBef>
                <a:spcPts val="800"/>
              </a:spcBef>
              <a:spcAft>
                <a:spcPts val="400"/>
              </a:spcAft>
              <a:defRPr sz="1600">
                <a:solidFill>
                  <a:srgbClr val="2D3748"/>
                </a:solidFill>
              </a:defRPr>
            </a:pPr>
            <a:r>
              <a:t>Organizational themes: fairness, accountability, transparency, privacy, reliability, and human oversight</a:t>
            </a:r>
          </a:p>
          <a:p>
            <a:pPr>
              <a:spcBef>
                <a:spcPts val="800"/>
              </a:spcBef>
              <a:spcAft>
                <a:spcPts val="400"/>
              </a:spcAft>
              <a:defRPr sz="1600">
                <a:solidFill>
                  <a:srgbClr val="2D3748"/>
                </a:solidFill>
              </a:defRPr>
            </a:pPr>
            <a:r>
              <a:t>Trust requires strong data privacy safeguards before customers share telemetry needed for personalized AI protection</a:t>
            </a:r>
          </a:p>
        </p:txBody>
      </p:sp>
      <p:sp>
        <p:nvSpPr>
          <p:cNvPr id="7" name="Rounded Rectangle 6"/>
          <p:cNvSpPr/>
          <p:nvPr/>
        </p:nvSpPr>
        <p:spPr>
          <a:xfrm>
            <a:off x="731520" y="3246120"/>
            <a:ext cx="10789920" cy="2606040"/>
          </a:xfrm>
          <a:prstGeom prst="roundRect">
            <a:avLst/>
          </a:prstGeom>
          <a:solidFill>
            <a:srgbClr val="E8EDF2"/>
          </a:solidFill>
          <a:ln>
            <a:solidFill>
              <a:srgbClr val="007A87"/>
            </a:solidFill>
          </a:ln>
        </p:spPr>
        <p:style>
          <a:lnRef idx="1">
            <a:schemeClr val="accent1"/>
          </a:lnRef>
          <a:fillRef idx="3">
            <a:schemeClr val="accent1"/>
          </a:fillRef>
          <a:effectRef idx="2">
            <a:schemeClr val="accent1"/>
          </a:effectRef>
          <a:fontRef idx="minor">
            <a:schemeClr val="lt1"/>
          </a:fontRef>
        </p:style>
        <p:txBody>
          <a:bodyPr wrap="square" rtlCol="0" anchor="ctr"/>
          <a:lstStyle/>
          <a:p>
            <a:pPr algn="ctr">
              <a:defRPr sz="1400" b="1">
                <a:solidFill>
                  <a:srgbClr val="1B2A4A"/>
                </a:solidFill>
              </a:defRPr>
            </a:pPr>
            <a:r>
              <a:t>AI Ethics Statement (Assignment 1.3)</a:t>
            </a:r>
          </a:p>
          <a:p>
            <a:pPr>
              <a:defRPr sz="1300">
                <a:solidFill>
                  <a:srgbClr val="2D3748"/>
                </a:solidFill>
              </a:defRPr>
            </a:pPr>
            <a:r>
              <a:t>Our AI systems will be designed and deployed to improve cybersecurity outcomes while respecting privacy, fairness, transparency, and human oversight. We commit to developing AI that is secure, reliable, explainable, and accountable. Human decision-makers will retain authority over critical security actions. We will continuously monitor AI systems for bias, performance degradation, and unintended consequences.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AI Use Cases Under Consideration</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Same use cases from Assignment 1.3</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graphicFrame>
        <p:nvGraphicFramePr>
          <p:cNvPr id="6" name="Table 5"/>
          <p:cNvGraphicFramePr>
            <a:graphicFrameLocks noGrp="1"/>
          </p:cNvGraphicFramePr>
          <p:nvPr/>
        </p:nvGraphicFramePr>
        <p:xfrm>
          <a:off x="457200" y="1280160"/>
          <a:ext cx="11247120" cy="4754880"/>
        </p:xfrm>
        <a:graphic>
          <a:graphicData uri="http://schemas.openxmlformats.org/drawingml/2006/table">
            <a:tbl>
              <a:tblPr firstRow="1" bandRow="1">
                <a:tableStyleId>{5C22544A-7EE6-4342-B048-85BDC9FD1C3A}</a:tableStyleId>
              </a:tblPr>
              <a:tblGrid>
                <a:gridCol w="374904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49040">
                  <a:extLst>
                    <a:ext uri="{9D8B030D-6E8A-4147-A177-3AD203B41FA5}">
                      <a16:colId xmlns:a16="http://schemas.microsoft.com/office/drawing/2014/main" val="20002"/>
                    </a:ext>
                  </a:extLst>
                </a:gridCol>
              </a:tblGrid>
              <a:tr h="950976">
                <a:tc>
                  <a:txBody>
                    <a:bodyPr/>
                    <a:lstStyle/>
                    <a:p>
                      <a:pPr>
                        <a:defRPr sz="900" b="1">
                          <a:solidFill>
                            <a:srgbClr val="FFFFFF"/>
                          </a:solidFill>
                        </a:defRPr>
                      </a:pPr>
                      <a:r>
                        <a:t>Use Case</a:t>
                      </a:r>
                    </a:p>
                  </a:txBody>
                  <a:tcPr anchor="ctr">
                    <a:solidFill>
                      <a:srgbClr val="007A87"/>
                    </a:solidFill>
                  </a:tcPr>
                </a:tc>
                <a:tc>
                  <a:txBody>
                    <a:bodyPr/>
                    <a:lstStyle/>
                    <a:p>
                      <a:pPr>
                        <a:defRPr sz="900" b="1">
                          <a:solidFill>
                            <a:srgbClr val="FFFFFF"/>
                          </a:solidFill>
                        </a:defRPr>
                      </a:pPr>
                      <a:r>
                        <a:t>Description</a:t>
                      </a:r>
                    </a:p>
                  </a:txBody>
                  <a:tcPr anchor="ctr">
                    <a:solidFill>
                      <a:srgbClr val="007A87"/>
                    </a:solidFill>
                  </a:tcPr>
                </a:tc>
                <a:tc>
                  <a:txBody>
                    <a:bodyPr/>
                    <a:lstStyle/>
                    <a:p>
                      <a:pPr>
                        <a:defRPr sz="900" b="1">
                          <a:solidFill>
                            <a:srgbClr val="FFFFFF"/>
                          </a:solidFill>
                        </a:defRPr>
                      </a:pPr>
                      <a:r>
                        <a:t>Privacy / Data Sensitivity</a:t>
                      </a:r>
                    </a:p>
                  </a:txBody>
                  <a:tcPr anchor="ctr">
                    <a:solidFill>
                      <a:srgbClr val="007A87"/>
                    </a:solidFill>
                  </a:tcPr>
                </a:tc>
                <a:extLst>
                  <a:ext uri="{0D108BD9-81ED-4DB2-BD59-A6C34878D82A}">
                    <a16:rowId xmlns:a16="http://schemas.microsoft.com/office/drawing/2014/main" val="10000"/>
                  </a:ext>
                </a:extLst>
              </a:tr>
              <a:tr h="950976">
                <a:tc>
                  <a:txBody>
                    <a:bodyPr/>
                    <a:lstStyle/>
                    <a:p>
                      <a:pPr>
                        <a:defRPr sz="900" b="0">
                          <a:solidFill>
                            <a:srgbClr val="2D3748"/>
                          </a:solidFill>
                        </a:defRPr>
                      </a:pPr>
                      <a:r>
                        <a:t>AI Malware Detection Engine</a:t>
                      </a:r>
                    </a:p>
                  </a:txBody>
                  <a:tcPr anchor="ctr">
                    <a:solidFill>
                      <a:srgbClr val="FFFFFF"/>
                    </a:solidFill>
                  </a:tcPr>
                </a:tc>
                <a:tc>
                  <a:txBody>
                    <a:bodyPr/>
                    <a:lstStyle/>
                    <a:p>
                      <a:pPr>
                        <a:defRPr sz="900" b="0">
                          <a:solidFill>
                            <a:srgbClr val="2D3748"/>
                          </a:solidFill>
                        </a:defRPr>
                      </a:pPr>
                      <a:r>
                        <a:t>ML model scores files and behaviors as malicious or benign for endpoint protection</a:t>
                      </a:r>
                    </a:p>
                  </a:txBody>
                  <a:tcPr anchor="ctr">
                    <a:solidFill>
                      <a:srgbClr val="FFFFFF"/>
                    </a:solidFill>
                  </a:tcPr>
                </a:tc>
                <a:tc>
                  <a:txBody>
                    <a:bodyPr/>
                    <a:lstStyle/>
                    <a:p>
                      <a:pPr>
                        <a:defRPr sz="900" b="0">
                          <a:solidFill>
                            <a:srgbClr val="2D3748"/>
                          </a:solidFill>
                        </a:defRPr>
                      </a:pPr>
                      <a:r>
                        <a:t>CRITICAL — endpoint telemetry may contain PII</a:t>
                      </a:r>
                    </a:p>
                  </a:txBody>
                  <a:tcPr anchor="ctr">
                    <a:solidFill>
                      <a:srgbClr val="FFFFFF"/>
                    </a:solidFill>
                  </a:tcPr>
                </a:tc>
                <a:extLst>
                  <a:ext uri="{0D108BD9-81ED-4DB2-BD59-A6C34878D82A}">
                    <a16:rowId xmlns:a16="http://schemas.microsoft.com/office/drawing/2014/main" val="10001"/>
                  </a:ext>
                </a:extLst>
              </a:tr>
              <a:tr h="950976">
                <a:tc>
                  <a:txBody>
                    <a:bodyPr/>
                    <a:lstStyle/>
                    <a:p>
                      <a:pPr>
                        <a:defRPr sz="900" b="0">
                          <a:solidFill>
                            <a:srgbClr val="2D3748"/>
                          </a:solidFill>
                        </a:defRPr>
                      </a:pPr>
                      <a:r>
                        <a:t>SOC Alert Triage &amp; Prioritization</a:t>
                      </a:r>
                    </a:p>
                  </a:txBody>
                  <a:tcPr anchor="ctr">
                    <a:solidFill>
                      <a:srgbClr val="E8EDF2"/>
                    </a:solidFill>
                  </a:tcPr>
                </a:tc>
                <a:tc>
                  <a:txBody>
                    <a:bodyPr/>
                    <a:lstStyle/>
                    <a:p>
                      <a:pPr>
                        <a:defRPr sz="900" b="0">
                          <a:solidFill>
                            <a:srgbClr val="2D3748"/>
                          </a:solidFill>
                        </a:defRPr>
                      </a:pPr>
                      <a:r>
                        <a:t>AI ranks security alerts so analysts focus on highest-risk incidents</a:t>
                      </a:r>
                    </a:p>
                  </a:txBody>
                  <a:tcPr anchor="ctr">
                    <a:solidFill>
                      <a:srgbClr val="E8EDF2"/>
                    </a:solidFill>
                  </a:tcPr>
                </a:tc>
                <a:tc>
                  <a:txBody>
                    <a:bodyPr/>
                    <a:lstStyle/>
                    <a:p>
                      <a:pPr>
                        <a:defRPr sz="900" b="0">
                          <a:solidFill>
                            <a:srgbClr val="2D3748"/>
                          </a:solidFill>
                        </a:defRPr>
                      </a:pPr>
                      <a:r>
                        <a:t>CRITICAL — logs contain identities and communications metadata</a:t>
                      </a:r>
                    </a:p>
                  </a:txBody>
                  <a:tcPr anchor="ctr">
                    <a:solidFill>
                      <a:srgbClr val="E8EDF2"/>
                    </a:solidFill>
                  </a:tcPr>
                </a:tc>
                <a:extLst>
                  <a:ext uri="{0D108BD9-81ED-4DB2-BD59-A6C34878D82A}">
                    <a16:rowId xmlns:a16="http://schemas.microsoft.com/office/drawing/2014/main" val="10002"/>
                  </a:ext>
                </a:extLst>
              </a:tr>
              <a:tr h="950976">
                <a:tc>
                  <a:txBody>
                    <a:bodyPr/>
                    <a:lstStyle/>
                    <a:p>
                      <a:pPr>
                        <a:defRPr sz="900" b="0">
                          <a:solidFill>
                            <a:srgbClr val="2D3748"/>
                          </a:solidFill>
                        </a:defRPr>
                      </a:pPr>
                      <a:r>
                        <a:t>Automated Incident Response Recommendations</a:t>
                      </a:r>
                    </a:p>
                  </a:txBody>
                  <a:tcPr anchor="ctr">
                    <a:solidFill>
                      <a:srgbClr val="FFFFFF"/>
                    </a:solidFill>
                  </a:tcPr>
                </a:tc>
                <a:tc>
                  <a:txBody>
                    <a:bodyPr/>
                    <a:lstStyle/>
                    <a:p>
                      <a:pPr>
                        <a:defRPr sz="900" b="0">
                          <a:solidFill>
                            <a:srgbClr val="2D3748"/>
                          </a:solidFill>
                        </a:defRPr>
                      </a:pPr>
                      <a:r>
                        <a:t>AI suggests containment actions such as isolation, blocking, or escalation</a:t>
                      </a:r>
                    </a:p>
                  </a:txBody>
                  <a:tcPr anchor="ctr">
                    <a:solidFill>
                      <a:srgbClr val="FFFFFF"/>
                    </a:solidFill>
                  </a:tcPr>
                </a:tc>
                <a:tc>
                  <a:txBody>
                    <a:bodyPr/>
                    <a:lstStyle/>
                    <a:p>
                      <a:pPr>
                        <a:defRPr sz="900" b="0">
                          <a:solidFill>
                            <a:srgbClr val="2D3748"/>
                          </a:solidFill>
                        </a:defRPr>
                      </a:pPr>
                      <a:r>
                        <a:t>CRITICAL — forensic and account data; consequential automation</a:t>
                      </a:r>
                    </a:p>
                  </a:txBody>
                  <a:tcPr anchor="ctr">
                    <a:solidFill>
                      <a:srgbClr val="FFFFFF"/>
                    </a:solidFill>
                  </a:tcPr>
                </a:tc>
                <a:extLst>
                  <a:ext uri="{0D108BD9-81ED-4DB2-BD59-A6C34878D82A}">
                    <a16:rowId xmlns:a16="http://schemas.microsoft.com/office/drawing/2014/main" val="10003"/>
                  </a:ext>
                </a:extLst>
              </a:tr>
              <a:tr h="950976">
                <a:tc>
                  <a:txBody>
                    <a:bodyPr/>
                    <a:lstStyle/>
                    <a:p>
                      <a:pPr>
                        <a:defRPr sz="900" b="0">
                          <a:solidFill>
                            <a:srgbClr val="2D3748"/>
                          </a:solidFill>
                        </a:defRPr>
                      </a:pPr>
                      <a:r>
                        <a:t>Third-Party Vendor AI Risk Assessment</a:t>
                      </a:r>
                    </a:p>
                  </a:txBody>
                  <a:tcPr anchor="ctr">
                    <a:solidFill>
                      <a:srgbClr val="E8EDF2"/>
                    </a:solidFill>
                  </a:tcPr>
                </a:tc>
                <a:tc>
                  <a:txBody>
                    <a:bodyPr/>
                    <a:lstStyle/>
                    <a:p>
                      <a:pPr>
                        <a:defRPr sz="900" b="0">
                          <a:solidFill>
                            <a:srgbClr val="2D3748"/>
                          </a:solidFill>
                        </a:defRPr>
                      </a:pPr>
                      <a:r>
                        <a:t>AI evaluates external vendors for procurement and integration</a:t>
                      </a:r>
                    </a:p>
                  </a:txBody>
                  <a:tcPr anchor="ctr">
                    <a:solidFill>
                      <a:srgbClr val="E8EDF2"/>
                    </a:solidFill>
                  </a:tcPr>
                </a:tc>
                <a:tc>
                  <a:txBody>
                    <a:bodyPr/>
                    <a:lstStyle/>
                    <a:p>
                      <a:pPr>
                        <a:defRPr sz="900" b="0">
                          <a:solidFill>
                            <a:srgbClr val="2D3748"/>
                          </a:solidFill>
                        </a:defRPr>
                      </a:pPr>
                      <a:r>
                        <a:t>HIGH — vendor confidential data; lower direct customer PII exposure</a:t>
                      </a:r>
                    </a:p>
                  </a:txBody>
                  <a:tcPr anchor="ctr">
                    <a:solidFill>
                      <a:srgbClr val="E8EDF2"/>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Chart: Data Privacy Protection by Use Case</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Privacy level, data types, and protection measures</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pic>
        <p:nvPicPr>
          <p:cNvPr id="6" name="Picture 5" descr="chart1_privacy.png"/>
          <p:cNvPicPr>
            <a:picLocks noChangeAspect="1"/>
          </p:cNvPicPr>
          <p:nvPr/>
        </p:nvPicPr>
        <p:blipFill>
          <a:blip r:embed="rId2"/>
          <a:stretch>
            <a:fillRect/>
          </a:stretch>
        </p:blipFill>
        <p:spPr>
          <a:xfrm>
            <a:off x="320040" y="1143000"/>
            <a:ext cx="11521440" cy="641451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Chart: Data Security Practices by Use Case</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NIST Protect-P aligned technical safeguards</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pic>
        <p:nvPicPr>
          <p:cNvPr id="6" name="Picture 5" descr="chart2_security.png"/>
          <p:cNvPicPr>
            <a:picLocks noChangeAspect="1"/>
          </p:cNvPicPr>
          <p:nvPr/>
        </p:nvPicPr>
        <p:blipFill>
          <a:blip r:embed="rId2"/>
          <a:stretch>
            <a:fillRect/>
          </a:stretch>
        </p:blipFill>
        <p:spPr>
          <a:xfrm>
            <a:off x="320040" y="1143000"/>
            <a:ext cx="11521440" cy="6414516"/>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Chart: Intellectual Property Considerations</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WIPO-informed IP governance per use case</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pic>
        <p:nvPicPr>
          <p:cNvPr id="6" name="Picture 5" descr="chart3_ip.png"/>
          <p:cNvPicPr>
            <a:picLocks noChangeAspect="1"/>
          </p:cNvPicPr>
          <p:nvPr/>
        </p:nvPicPr>
        <p:blipFill>
          <a:blip r:embed="rId2"/>
          <a:stretch>
            <a:fillRect/>
          </a:stretch>
        </p:blipFill>
        <p:spPr>
          <a:xfrm>
            <a:off x="320040" y="1143000"/>
            <a:ext cx="11521440" cy="641451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Chart: Regulatory Compliance — U.S. vs. EU</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Required actions for United States and European Union compliance</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pic>
        <p:nvPicPr>
          <p:cNvPr id="6" name="Picture 5" descr="chart4_compliance.png"/>
          <p:cNvPicPr>
            <a:picLocks noChangeAspect="1"/>
          </p:cNvPicPr>
          <p:nvPr/>
        </p:nvPicPr>
        <p:blipFill>
          <a:blip r:embed="rId2"/>
          <a:stretch>
            <a:fillRect/>
          </a:stretch>
        </p:blipFill>
        <p:spPr>
          <a:xfrm>
            <a:off x="320040" y="1143000"/>
            <a:ext cx="11521440" cy="6880860"/>
          </a:xfrm>
          <a:prstGeom prst="rect">
            <a:avLst/>
          </a:prstGeom>
        </p:spPr>
      </p:pic>
      <p:sp>
        <p:nvSpPr>
          <p:cNvPr id="7" name="TextBox 6"/>
          <p:cNvSpPr txBox="1"/>
          <p:nvPr/>
        </p:nvSpPr>
        <p:spPr>
          <a:xfrm>
            <a:off x="548640" y="6144768"/>
            <a:ext cx="10972800" cy="320040"/>
          </a:xfrm>
          <a:prstGeom prst="rect">
            <a:avLst/>
          </a:prstGeom>
          <a:noFill/>
        </p:spPr>
        <p:txBody>
          <a:bodyPr wrap="none">
            <a:spAutoFit/>
          </a:bodyPr>
          <a:lstStyle/>
          <a:p>
            <a:pPr>
              <a:defRPr sz="1000" i="1">
                <a:solidFill>
                  <a:srgbClr val="71859B"/>
                </a:solidFill>
              </a:defRPr>
            </a:pPr>
            <a:r>
              <a:t>U.S.: CCPA, EO 14117, NIST Privacy Framework | EU: GDPR, AI Act, Schrems II transfers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Reflection</a:t>
            </a:r>
          </a:p>
        </p:txBody>
      </p:sp>
      <p:sp>
        <p:nvSpPr>
          <p:cNvPr id="4" name="TextBox 3"/>
          <p:cNvSpPr txBox="1"/>
          <p:nvPr/>
        </p:nvSpPr>
        <p:spPr>
          <a:xfrm>
            <a:off x="548640" y="658368"/>
            <a:ext cx="10972800" cy="274320"/>
          </a:xfrm>
          <a:prstGeom prst="rect">
            <a:avLst/>
          </a:prstGeom>
          <a:noFill/>
        </p:spPr>
        <p:txBody>
          <a:bodyPr wrap="none">
            <a:spAutoFit/>
          </a:bodyPr>
          <a:lstStyle/>
          <a:p>
            <a:pPr>
              <a:defRPr sz="1300">
                <a:solidFill>
                  <a:srgbClr val="A0AEC0"/>
                </a:solidFill>
              </a:defRPr>
            </a:pPr>
            <a:r>
              <a:t>Difficulties and open questions from Workshop 4</a:t>
            </a:r>
          </a:p>
        </p:txBody>
      </p:sp>
      <p:sp>
        <p:nvSpPr>
          <p:cNvPr id="5" name="TextBox 4"/>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sp>
        <p:nvSpPr>
          <p:cNvPr id="6" name="TextBox 5"/>
          <p:cNvSpPr txBox="1"/>
          <p:nvPr/>
        </p:nvSpPr>
        <p:spPr>
          <a:xfrm>
            <a:off x="731520" y="1325880"/>
            <a:ext cx="10789920" cy="4846320"/>
          </a:xfrm>
          <a:prstGeom prst="rect">
            <a:avLst/>
          </a:prstGeom>
          <a:noFill/>
        </p:spPr>
        <p:txBody>
          <a:bodyPr wrap="square">
            <a:spAutoFit/>
          </a:bodyPr>
          <a:lstStyle/>
          <a:p>
            <a:pPr>
              <a:spcBef>
                <a:spcPts val="800"/>
              </a:spcBef>
              <a:spcAft>
                <a:spcPts val="400"/>
              </a:spcAft>
              <a:defRPr sz="1600">
                <a:solidFill>
                  <a:srgbClr val="2D3748"/>
                </a:solidFill>
              </a:defRPr>
            </a:pPr>
            <a:r>
              <a:rPr dirty="0"/>
              <a:t>Balancing personalized AI security with data minimization is harder than I expected — customers want better protection, but that requires more telemetry, which increases privacy risk.</a:t>
            </a:r>
          </a:p>
          <a:p>
            <a:pPr>
              <a:spcBef>
                <a:spcPts val="800"/>
              </a:spcBef>
              <a:spcAft>
                <a:spcPts val="400"/>
              </a:spcAft>
              <a:defRPr sz="1600">
                <a:solidFill>
                  <a:srgbClr val="2D3748"/>
                </a:solidFill>
              </a:defRPr>
            </a:pPr>
            <a:r>
              <a:rPr dirty="0"/>
              <a:t>The U.S. and EU frameworks do not align neatly: CCPA focuses on consumer rights, GDPR on lawful processing and transfers, and EO 14117 adds national security restrictions — I am still unsure how </a:t>
            </a:r>
            <a:r>
              <a:rPr dirty="0" err="1"/>
              <a:t>SentinelOneX</a:t>
            </a:r>
            <a:r>
              <a:rPr dirty="0"/>
              <a:t> maps all three for global SOC operations.</a:t>
            </a:r>
          </a:p>
          <a:p>
            <a:pPr>
              <a:spcBef>
                <a:spcPts val="800"/>
              </a:spcBef>
              <a:spcAft>
                <a:spcPts val="400"/>
              </a:spcAft>
              <a:defRPr sz="1600">
                <a:solidFill>
                  <a:srgbClr val="2D3748"/>
                </a:solidFill>
              </a:defRPr>
            </a:pPr>
            <a:r>
              <a:rPr dirty="0"/>
              <a:t>Shannon Vallor's data ethics emphasis on habit and character challenged me — technical controls alone cannot build trust if engineers treat customer data casually in daily practice.</a:t>
            </a:r>
          </a:p>
          <a:p>
            <a:pPr>
              <a:spcBef>
                <a:spcPts val="800"/>
              </a:spcBef>
              <a:spcAft>
                <a:spcPts val="400"/>
              </a:spcAft>
              <a:defRPr sz="1600">
                <a:solidFill>
                  <a:srgbClr val="2D3748"/>
                </a:solidFill>
              </a:defRPr>
            </a:pPr>
            <a:r>
              <a:rPr dirty="0"/>
              <a:t>The WIPO IP checklist from our </a:t>
            </a:r>
            <a:r>
              <a:rPr dirty="0" err="1"/>
              <a:t>NeuroCreate</a:t>
            </a:r>
            <a:r>
              <a:rPr dirty="0"/>
              <a:t> simulation applies even to cybersecurity AI: we must vet training data and avoid putting client secrets into vendor models, but the line between threat intelligence and personal data is often blurry.</a:t>
            </a:r>
          </a:p>
          <a:p>
            <a:pPr>
              <a:spcBef>
                <a:spcPts val="800"/>
              </a:spcBef>
              <a:spcAft>
                <a:spcPts val="400"/>
              </a:spcAft>
              <a:defRPr sz="1600">
                <a:solidFill>
                  <a:srgbClr val="2D3748"/>
                </a:solidFill>
              </a:defRPr>
            </a:pPr>
            <a:r>
              <a:rPr dirty="0"/>
              <a:t>Open question: How do we earn customer trust to share the data needed for personalized AI while proving — not just promising — that regional compliance (EU residency, U.S. adversary blocking) is enforced in our architecture?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7FA"/>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164592"/>
            <a:ext cx="10972800" cy="502920"/>
          </a:xfrm>
          <a:prstGeom prst="rect">
            <a:avLst/>
          </a:prstGeom>
          <a:noFill/>
        </p:spPr>
        <p:txBody>
          <a:bodyPr wrap="none">
            <a:spAutoFit/>
          </a:bodyPr>
          <a:lstStyle/>
          <a:p>
            <a:pPr>
              <a:defRPr sz="2800" b="1">
                <a:solidFill>
                  <a:srgbClr val="FFFFFF"/>
                </a:solidFill>
              </a:defRPr>
            </a:pPr>
            <a:r>
              <a:t>References</a:t>
            </a:r>
          </a:p>
        </p:txBody>
      </p:sp>
      <p:sp>
        <p:nvSpPr>
          <p:cNvPr id="4" name="TextBox 3"/>
          <p:cNvSpPr txBox="1"/>
          <p:nvPr/>
        </p:nvSpPr>
        <p:spPr>
          <a:xfrm>
            <a:off x="548640" y="6446520"/>
            <a:ext cx="10972800" cy="274320"/>
          </a:xfrm>
          <a:prstGeom prst="rect">
            <a:avLst/>
          </a:prstGeom>
          <a:noFill/>
        </p:spPr>
        <p:txBody>
          <a:bodyPr wrap="none">
            <a:spAutoFit/>
          </a:bodyPr>
          <a:lstStyle/>
          <a:p>
            <a:pPr>
              <a:defRPr sz="1000">
                <a:solidFill>
                  <a:srgbClr val="71859B"/>
                </a:solidFill>
              </a:defRPr>
            </a:pPr>
            <a:r>
              <a:t>SentinelOneX Security | RAI Framework — Privacy &amp; Compliance</a:t>
            </a:r>
          </a:p>
        </p:txBody>
      </p:sp>
      <p:sp>
        <p:nvSpPr>
          <p:cNvPr id="5" name="TextBox 4"/>
          <p:cNvSpPr txBox="1"/>
          <p:nvPr/>
        </p:nvSpPr>
        <p:spPr>
          <a:xfrm>
            <a:off x="914400" y="1645920"/>
            <a:ext cx="10058400" cy="4389120"/>
          </a:xfrm>
          <a:prstGeom prst="rect">
            <a:avLst/>
          </a:prstGeom>
          <a:noFill/>
        </p:spPr>
        <p:txBody>
          <a:bodyPr wrap="none">
            <a:spAutoFit/>
          </a:bodyPr>
          <a:lstStyle/>
          <a:p>
            <a:pPr>
              <a:spcBef>
                <a:spcPts val="800"/>
              </a:spcBef>
              <a:defRPr sz="1500">
                <a:solidFill>
                  <a:srgbClr val="2D3748"/>
                </a:solidFill>
              </a:defRPr>
            </a:pPr>
            <a:r>
              <a:t>Maslej, N., et al. (2025). Artificial Intelligence Index Report 2025 (Chapter 6). Stanford HAI.</a:t>
            </a:r>
          </a:p>
          <a:p>
            <a:pPr>
              <a:spcBef>
                <a:spcPts val="800"/>
              </a:spcBef>
              <a:defRPr sz="1500">
                <a:solidFill>
                  <a:srgbClr val="2D3748"/>
                </a:solidFill>
              </a:defRPr>
            </a:pPr>
            <a:r>
              <a:t>National Institute of Standards and Technology. (2020). NIST Privacy Framework, Version 1.0.</a:t>
            </a:r>
          </a:p>
          <a:p>
            <a:pPr>
              <a:spcBef>
                <a:spcPts val="800"/>
              </a:spcBef>
              <a:defRPr sz="1500">
                <a:solidFill>
                  <a:srgbClr val="2D3748"/>
                </a:solidFill>
              </a:defRPr>
            </a:pPr>
            <a:r>
              <a:t>SentinelOneX Security AI Ethics Statement — Assignment 1.3.</a:t>
            </a:r>
          </a:p>
          <a:p>
            <a:pPr>
              <a:spcBef>
                <a:spcPts val="800"/>
              </a:spcBef>
              <a:defRPr sz="1500">
                <a:solidFill>
                  <a:srgbClr val="2D3748"/>
                </a:solidFill>
              </a:defRPr>
            </a:pPr>
            <a:r>
              <a:t>Vallor, S. An Introduction to Data Ethics. Santa Clara University Markkula Center.</a:t>
            </a:r>
          </a:p>
          <a:p>
            <a:pPr>
              <a:spcBef>
                <a:spcPts val="800"/>
              </a:spcBef>
              <a:defRPr sz="1500">
                <a:solidFill>
                  <a:srgbClr val="2D3748"/>
                </a:solidFill>
              </a:defRPr>
            </a:pPr>
            <a:r>
              <a:t>World Intellectual Property Organization. (2024). Generative AI: Navigating Intellectual Property.</a:t>
            </a:r>
          </a:p>
          <a:p>
            <a:pPr>
              <a:spcBef>
                <a:spcPts val="800"/>
              </a:spcBef>
              <a:defRPr sz="1500">
                <a:solidFill>
                  <a:srgbClr val="2D3748"/>
                </a:solidFill>
              </a:defRPr>
            </a:pPr>
            <a:r>
              <a:t>Executive Order 14117 (2024). Preventing Access to Americans' Bulk Sensitive Personal Data.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2</TotalTime>
  <Words>753</Words>
  <Application>Microsoft Office PowerPoint</Application>
  <PresentationFormat>Widescreen</PresentationFormat>
  <Paragraphs>63</Paragraphs>
  <Slides>9</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Arun Kumar Vallala</cp:lastModifiedBy>
  <cp:revision>2</cp:revision>
  <dcterms:created xsi:type="dcterms:W3CDTF">2013-01-27T09:14:16Z</dcterms:created>
  <dcterms:modified xsi:type="dcterms:W3CDTF">2026-06-26T01:33:49Z</dcterms:modified>
  <cp:category/>
</cp:coreProperties>
</file>