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743200"/>
            <a:ext cx="12191695" cy="73152"/>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515600" cy="1280160"/>
          </a:xfrm>
          <a:prstGeom prst="rect">
            <a:avLst/>
          </a:prstGeom>
          <a:noFill/>
        </p:spPr>
        <p:txBody>
          <a:bodyPr wrap="none">
            <a:spAutoFit/>
          </a:bodyPr>
          <a:lstStyle/>
          <a:p>
            <a:pPr algn="ctr">
              <a:defRPr sz="3800" b="1">
                <a:solidFill>
                  <a:srgbClr val="FFFFFF"/>
                </a:solidFill>
              </a:defRPr>
            </a:pPr>
            <a:r>
              <a:t>RAI Framework Project</a:t>
            </a:r>
            <a:br/>
            <a:r>
              <a:t>Design Considerations</a:t>
            </a:r>
          </a:p>
        </p:txBody>
      </p:sp>
      <p:sp>
        <p:nvSpPr>
          <p:cNvPr id="4" name="TextBox 3"/>
          <p:cNvSpPr txBox="1"/>
          <p:nvPr/>
        </p:nvSpPr>
        <p:spPr>
          <a:xfrm>
            <a:off x="731520" y="2926080"/>
            <a:ext cx="10515600" cy="2560320"/>
          </a:xfrm>
          <a:prstGeom prst="rect">
            <a:avLst/>
          </a:prstGeom>
          <a:noFill/>
        </p:spPr>
        <p:txBody>
          <a:bodyPr wrap="none">
            <a:spAutoFit/>
          </a:bodyPr>
          <a:lstStyle/>
          <a:p>
            <a:pPr algn="ctr">
              <a:spcAft>
                <a:spcPts val="300"/>
              </a:spcAft>
              <a:defRPr sz="1800">
                <a:solidFill>
                  <a:srgbClr val="CBD5E0"/>
                </a:solidFill>
              </a:defRPr>
            </a:pPr>
            <a:r>
              <a:t>SentinelOneX Security</a:t>
            </a:r>
          </a:p>
          <a:p>
            <a:pPr algn="ctr">
              <a:spcAft>
                <a:spcPts val="300"/>
              </a:spcAft>
              <a:defRPr sz="1600">
                <a:solidFill>
                  <a:srgbClr val="CBD5E0"/>
                </a:solidFill>
              </a:defRPr>
            </a:pPr>
            <a:r>
              <a:t>AIML-510-01 — Responsible Application of AI</a:t>
            </a:r>
          </a:p>
          <a:p>
            <a:pPr algn="ctr">
              <a:spcAft>
                <a:spcPts val="300"/>
              </a:spcAft>
              <a:defRPr sz="1600">
                <a:solidFill>
                  <a:srgbClr val="CBD5E0"/>
                </a:solidFill>
              </a:defRPr>
            </a:pPr>
            <a:r>
              <a:t>Workshop 2: Explainability &amp; Transparency</a:t>
            </a:r>
          </a:p>
          <a:p>
            <a:pPr algn="ctr">
              <a:spcAft>
                <a:spcPts val="300"/>
              </a:spcAft>
              <a:defRPr sz="1600">
                <a:solidFill>
                  <a:srgbClr val="CBD5E0"/>
                </a:solidFill>
              </a:defRPr>
            </a:pPr>
          </a:p>
          <a:p>
            <a:pPr algn="ctr">
              <a:spcAft>
                <a:spcPts val="300"/>
              </a:spcAft>
              <a:defRPr sz="1600">
                <a:solidFill>
                  <a:srgbClr val="CBD5E0"/>
                </a:solidFill>
              </a:defRPr>
            </a:pPr>
            <a:r>
              <a:t>Arun Kumar Vallala</a:t>
            </a:r>
          </a:p>
          <a:p>
            <a:pPr algn="ctr">
              <a:spcAft>
                <a:spcPts val="300"/>
              </a:spcAft>
              <a:defRPr sz="1600">
                <a:solidFill>
                  <a:srgbClr val="CBD5E0"/>
                </a:solidFill>
              </a:defRPr>
            </a:pPr>
            <a:r>
              <a:t>Indiana Wesleyan University</a:t>
            </a:r>
          </a:p>
          <a:p>
            <a:pPr algn="ctr">
              <a:spcAft>
                <a:spcPts val="300"/>
              </a:spcAft>
              <a:defRPr sz="1600">
                <a:solidFill>
                  <a:srgbClr val="CBD5E0"/>
                </a:solidFill>
              </a:defRPr>
            </a:pPr>
            <a:r>
              <a:t>Instructor: Armando V. Tauro, Ph.D.</a:t>
            </a:r>
          </a:p>
          <a:p>
            <a:pPr algn="ctr">
              <a:spcAft>
                <a:spcPts val="300"/>
              </a:spcAft>
              <a:defRPr sz="1600">
                <a:solidFill>
                  <a:srgbClr val="CBD5E0"/>
                </a:solidFill>
              </a:defRPr>
            </a:pPr>
            <a:r>
              <a:t>June 11,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Company Overview</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SentinelOneX Security — Assignment 1.3</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Design</a:t>
            </a:r>
          </a:p>
        </p:txBody>
      </p:sp>
      <p:sp>
        <p:nvSpPr>
          <p:cNvPr id="6" name="TextBox 5"/>
          <p:cNvSpPr txBox="1"/>
          <p:nvPr/>
        </p:nvSpPr>
        <p:spPr>
          <a:xfrm>
            <a:off x="731520" y="1325880"/>
            <a:ext cx="10789920" cy="1828800"/>
          </a:xfrm>
          <a:prstGeom prst="rect">
            <a:avLst/>
          </a:prstGeom>
          <a:noFill/>
        </p:spPr>
        <p:txBody>
          <a:bodyPr wrap="square">
            <a:spAutoFit/>
          </a:bodyPr>
          <a:lstStyle/>
          <a:p>
            <a:pPr>
              <a:spcBef>
                <a:spcPts val="800"/>
              </a:spcBef>
              <a:spcAft>
                <a:spcPts val="400"/>
              </a:spcAft>
              <a:defRPr sz="1600">
                <a:solidFill>
                  <a:srgbClr val="2D3748"/>
                </a:solidFill>
              </a:defRPr>
            </a:pPr>
            <a:r>
              <a:t>Cybersecurity AI company providing AI-powered threat detection, SOC automation, and vendor risk evaluation</a:t>
            </a:r>
          </a:p>
          <a:p>
            <a:pPr>
              <a:spcBef>
                <a:spcPts val="800"/>
              </a:spcBef>
              <a:spcAft>
                <a:spcPts val="400"/>
              </a:spcAft>
              <a:defRPr sz="1600">
                <a:solidFill>
                  <a:srgbClr val="2D3748"/>
                </a:solidFill>
              </a:defRPr>
            </a:pPr>
            <a:r>
              <a:t>Cybersecurity AI can directly impact customer systems and business operations</a:t>
            </a:r>
          </a:p>
          <a:p>
            <a:pPr>
              <a:spcBef>
                <a:spcPts val="800"/>
              </a:spcBef>
              <a:spcAft>
                <a:spcPts val="400"/>
              </a:spcAft>
              <a:defRPr sz="1600">
                <a:solidFill>
                  <a:srgbClr val="2D3748"/>
                </a:solidFill>
              </a:defRPr>
            </a:pPr>
            <a:r>
              <a:t>Our principles address threat response, customer trust, privacy protection, and operational decision-making</a:t>
            </a:r>
          </a:p>
          <a:p>
            <a:pPr>
              <a:spcBef>
                <a:spcPts val="800"/>
              </a:spcBef>
              <a:spcAft>
                <a:spcPts val="400"/>
              </a:spcAft>
              <a:defRPr sz="1600">
                <a:solidFill>
                  <a:srgbClr val="2D3748"/>
                </a:solidFill>
              </a:defRPr>
            </a:pPr>
            <a:r>
              <a:t>Organizational themes: fairness, accountability, transparency, privacy, reliability, and human oversight</a:t>
            </a:r>
          </a:p>
        </p:txBody>
      </p:sp>
      <p:sp>
        <p:nvSpPr>
          <p:cNvPr id="7" name="Rounded Rectangle 6"/>
          <p:cNvSpPr/>
          <p:nvPr/>
        </p:nvSpPr>
        <p:spPr>
          <a:xfrm>
            <a:off x="731520" y="3246120"/>
            <a:ext cx="10789920" cy="2606040"/>
          </a:xfrm>
          <a:prstGeom prst="roundRect">
            <a:avLst/>
          </a:prstGeom>
          <a:solidFill>
            <a:srgbClr val="E8EDF2"/>
          </a:solidFill>
          <a:ln>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spcAft>
                <a:spcPts val="600"/>
              </a:spcAft>
              <a:defRPr b="1" sz="1400">
                <a:solidFill>
                  <a:srgbClr val="1B2A4A"/>
                </a:solidFill>
              </a:defRPr>
            </a:pPr>
            <a:r>
              <a:t>AI Ethics Statement (Assignment 1.3)</a:t>
            </a:r>
          </a:p>
          <a:p>
            <a:pPr>
              <a:lnSpc>
                <a:spcPct val="115000"/>
              </a:lnSpc>
              <a:defRPr sz="1300">
                <a:solidFill>
                  <a:srgbClr val="2D3748"/>
                </a:solidFill>
              </a:defRPr>
            </a:pPr>
            <a:r>
              <a:t>Our AI systems will be designed and deployed to improve cybersecurity outcomes while respecting privacy, fairness, transparency, and human oversight. We commit to developing AI that is secure, reliable, explainable, and accountable. Human decision-makers will retain authority over critical security actions. We will continuously monitor AI systems for bias, performance degradation, and unintended consequences.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AI Use Cases Under Consideration</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Same use cases from Assignment 1.3</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Design</a:t>
            </a:r>
          </a:p>
        </p:txBody>
      </p:sp>
      <p:graphicFrame>
        <p:nvGraphicFramePr>
          <p:cNvPr id="6" name="Table 5"/>
          <p:cNvGraphicFramePr>
            <a:graphicFrameLocks noGrp="1"/>
          </p:cNvGraphicFramePr>
          <p:nvPr/>
        </p:nvGraphicFramePr>
        <p:xfrm>
          <a:off x="457200" y="1280160"/>
          <a:ext cx="11247120" cy="4754880"/>
        </p:xfrm>
        <a:graphic>
          <a:graphicData uri="http://schemas.openxmlformats.org/drawingml/2006/table">
            <a:tbl>
              <a:tblPr firstRow="1" bandRow="1">
                <a:tableStyleId>{5C22544A-7EE6-4342-B048-85BDC9FD1C3A}</a:tableStyleId>
              </a:tblPr>
              <a:tblGrid>
                <a:gridCol w="3749040"/>
                <a:gridCol w="3749040"/>
                <a:gridCol w="3749040"/>
              </a:tblGrid>
              <a:tr h="950976">
                <a:tc>
                  <a:txBody>
                    <a:bodyPr/>
                    <a:lstStyle/>
                    <a:p>
                      <a:pPr algn="l">
                        <a:defRPr sz="1000" b="1">
                          <a:solidFill>
                            <a:srgbClr val="FFFFFF"/>
                          </a:solidFill>
                        </a:defRPr>
                      </a:pPr>
                      <a:r>
                        <a:t>Use Case</a:t>
                      </a:r>
                    </a:p>
                  </a:txBody>
                  <a:tcPr anchor="ctr" marL="54864" marR="54864" marT="27432" marB="27432">
                    <a:solidFill>
                      <a:srgbClr val="007A87"/>
                    </a:solidFill>
                  </a:tcPr>
                </a:tc>
                <a:tc>
                  <a:txBody>
                    <a:bodyPr/>
                    <a:lstStyle/>
                    <a:p>
                      <a:pPr algn="l">
                        <a:defRPr sz="1000" b="1">
                          <a:solidFill>
                            <a:srgbClr val="FFFFFF"/>
                          </a:solidFill>
                        </a:defRPr>
                      </a:pPr>
                      <a:r>
                        <a:t>Description</a:t>
                      </a:r>
                    </a:p>
                  </a:txBody>
                  <a:tcPr anchor="ctr" marL="54864" marR="54864" marT="27432" marB="27432">
                    <a:solidFill>
                      <a:srgbClr val="007A87"/>
                    </a:solidFill>
                  </a:tcPr>
                </a:tc>
                <a:tc>
                  <a:txBody>
                    <a:bodyPr/>
                    <a:lstStyle/>
                    <a:p>
                      <a:pPr algn="l">
                        <a:defRPr sz="1000" b="1">
                          <a:solidFill>
                            <a:srgbClr val="FFFFFF"/>
                          </a:solidFill>
                        </a:defRPr>
                      </a:pPr>
                      <a:r>
                        <a:t>1.3 Ethics Impact Area</a:t>
                      </a:r>
                    </a:p>
                  </a:txBody>
                  <a:tcPr anchor="ctr" marL="54864" marR="54864" marT="27432" marB="27432">
                    <a:solidFill>
                      <a:srgbClr val="007A87"/>
                    </a:solidFill>
                  </a:tcPr>
                </a:tc>
              </a:tr>
              <a:tr h="950976">
                <a:tc>
                  <a:txBody>
                    <a:bodyPr/>
                    <a:lstStyle/>
                    <a:p>
                      <a:pPr algn="l">
                        <a:defRPr sz="1000" b="0">
                          <a:solidFill>
                            <a:srgbClr val="2D3748"/>
                          </a:solidFill>
                        </a:defRPr>
                      </a:pPr>
                      <a:r>
                        <a:t>AI Malware Detection Engine</a:t>
                      </a:r>
                    </a:p>
                  </a:txBody>
                  <a:tcPr anchor="ctr" marL="54864" marR="54864" marT="27432" marB="27432">
                    <a:solidFill>
                      <a:srgbClr val="FFFFFF"/>
                    </a:solidFill>
                  </a:tcPr>
                </a:tc>
                <a:tc>
                  <a:txBody>
                    <a:bodyPr/>
                    <a:lstStyle/>
                    <a:p>
                      <a:pPr algn="ctr">
                        <a:defRPr sz="1000" b="0">
                          <a:solidFill>
                            <a:srgbClr val="2D3748"/>
                          </a:solidFill>
                        </a:defRPr>
                      </a:pPr>
                      <a:r>
                        <a:t>ML model scores files and behaviors as malicious or benign for endpoint protection</a:t>
                      </a:r>
                    </a:p>
                  </a:txBody>
                  <a:tcPr anchor="ctr" marL="54864" marR="54864" marT="27432" marB="27432">
                    <a:solidFill>
                      <a:srgbClr val="FFFFFF"/>
                    </a:solidFill>
                  </a:tcPr>
                </a:tc>
                <a:tc>
                  <a:txBody>
                    <a:bodyPr/>
                    <a:lstStyle/>
                    <a:p>
                      <a:pPr algn="ctr">
                        <a:defRPr sz="1000" b="0">
                          <a:solidFill>
                            <a:srgbClr val="2D3748"/>
                          </a:solidFill>
                        </a:defRPr>
                      </a:pPr>
                      <a:r>
                        <a:t>Customer systems &amp; operational decision-making</a:t>
                      </a:r>
                    </a:p>
                  </a:txBody>
                  <a:tcPr anchor="ctr" marL="54864" marR="54864" marT="27432" marB="27432">
                    <a:solidFill>
                      <a:srgbClr val="FFFFFF"/>
                    </a:solidFill>
                  </a:tcPr>
                </a:tc>
              </a:tr>
              <a:tr h="950976">
                <a:tc>
                  <a:txBody>
                    <a:bodyPr/>
                    <a:lstStyle/>
                    <a:p>
                      <a:pPr algn="l">
                        <a:defRPr sz="1000" b="0">
                          <a:solidFill>
                            <a:srgbClr val="2D3748"/>
                          </a:solidFill>
                        </a:defRPr>
                      </a:pPr>
                      <a:r>
                        <a:t>SOC Alert Triage &amp; Prioritization</a:t>
                      </a:r>
                    </a:p>
                  </a:txBody>
                  <a:tcPr anchor="ctr" marL="54864" marR="54864" marT="27432" marB="27432">
                    <a:solidFill>
                      <a:srgbClr val="E8EDF2"/>
                    </a:solidFill>
                  </a:tcPr>
                </a:tc>
                <a:tc>
                  <a:txBody>
                    <a:bodyPr/>
                    <a:lstStyle/>
                    <a:p>
                      <a:pPr algn="ctr">
                        <a:defRPr sz="1000" b="0">
                          <a:solidFill>
                            <a:srgbClr val="2D3748"/>
                          </a:solidFill>
                        </a:defRPr>
                      </a:pPr>
                      <a:r>
                        <a:t>AI ranks incoming security alerts so analysts focus on highest-risk incidents first</a:t>
                      </a:r>
                    </a:p>
                  </a:txBody>
                  <a:tcPr anchor="ctr" marL="54864" marR="54864" marT="27432" marB="27432">
                    <a:solidFill>
                      <a:srgbClr val="E8EDF2"/>
                    </a:solidFill>
                  </a:tcPr>
                </a:tc>
                <a:tc>
                  <a:txBody>
                    <a:bodyPr/>
                    <a:lstStyle/>
                    <a:p>
                      <a:pPr algn="ctr">
                        <a:defRPr sz="1000" b="0">
                          <a:solidFill>
                            <a:srgbClr val="2D3748"/>
                          </a:solidFill>
                        </a:defRPr>
                      </a:pPr>
                      <a:r>
                        <a:t>Threat response &amp; operational decision-making</a:t>
                      </a:r>
                    </a:p>
                  </a:txBody>
                  <a:tcPr anchor="ctr" marL="54864" marR="54864" marT="27432" marB="27432">
                    <a:solidFill>
                      <a:srgbClr val="E8EDF2"/>
                    </a:solidFill>
                  </a:tcPr>
                </a:tc>
              </a:tr>
              <a:tr h="950976">
                <a:tc>
                  <a:txBody>
                    <a:bodyPr/>
                    <a:lstStyle/>
                    <a:p>
                      <a:pPr algn="l">
                        <a:defRPr sz="1000" b="0">
                          <a:solidFill>
                            <a:srgbClr val="2D3748"/>
                          </a:solidFill>
                        </a:defRPr>
                      </a:pPr>
                      <a:r>
                        <a:t>Automated Incident Response Recommendations</a:t>
                      </a:r>
                    </a:p>
                  </a:txBody>
                  <a:tcPr anchor="ctr" marL="54864" marR="54864" marT="27432" marB="27432">
                    <a:solidFill>
                      <a:srgbClr val="FFFFFF"/>
                    </a:solidFill>
                  </a:tcPr>
                </a:tc>
                <a:tc>
                  <a:txBody>
                    <a:bodyPr/>
                    <a:lstStyle/>
                    <a:p>
                      <a:pPr algn="ctr">
                        <a:defRPr sz="1000" b="0">
                          <a:solidFill>
                            <a:srgbClr val="2D3748"/>
                          </a:solidFill>
                        </a:defRPr>
                      </a:pPr>
                      <a:r>
                        <a:t>AI suggests containment actions such as isolation, blocking, or escalation</a:t>
                      </a:r>
                    </a:p>
                  </a:txBody>
                  <a:tcPr anchor="ctr" marL="54864" marR="54864" marT="27432" marB="27432">
                    <a:solidFill>
                      <a:srgbClr val="FFFFFF"/>
                    </a:solidFill>
                  </a:tcPr>
                </a:tc>
                <a:tc>
                  <a:txBody>
                    <a:bodyPr/>
                    <a:lstStyle/>
                    <a:p>
                      <a:pPr algn="ctr">
                        <a:defRPr sz="1000" b="0">
                          <a:solidFill>
                            <a:srgbClr val="2D3748"/>
                          </a:solidFill>
                        </a:defRPr>
                      </a:pPr>
                      <a:r>
                        <a:t>Customer systems &amp; threat response (human retains authority)</a:t>
                      </a:r>
                    </a:p>
                  </a:txBody>
                  <a:tcPr anchor="ctr" marL="54864" marR="54864" marT="27432" marB="27432">
                    <a:solidFill>
                      <a:srgbClr val="FFFFFF"/>
                    </a:solidFill>
                  </a:tcPr>
                </a:tc>
              </a:tr>
              <a:tr h="950976">
                <a:tc>
                  <a:txBody>
                    <a:bodyPr/>
                    <a:lstStyle/>
                    <a:p>
                      <a:pPr algn="l">
                        <a:defRPr sz="1000" b="0">
                          <a:solidFill>
                            <a:srgbClr val="2D3748"/>
                          </a:solidFill>
                        </a:defRPr>
                      </a:pPr>
                      <a:r>
                        <a:t>Third-Party Vendor AI Risk Assessment</a:t>
                      </a:r>
                    </a:p>
                  </a:txBody>
                  <a:tcPr anchor="ctr" marL="54864" marR="54864" marT="27432" marB="27432">
                    <a:solidFill>
                      <a:srgbClr val="E8EDF2"/>
                    </a:solidFill>
                  </a:tcPr>
                </a:tc>
                <a:tc>
                  <a:txBody>
                    <a:bodyPr/>
                    <a:lstStyle/>
                    <a:p>
                      <a:pPr algn="ctr">
                        <a:defRPr sz="1000" b="0">
                          <a:solidFill>
                            <a:srgbClr val="2D3748"/>
                          </a:solidFill>
                        </a:defRPr>
                      </a:pPr>
                      <a:r>
                        <a:t>AI evaluates external AI/security vendors for procurement and integration decisions</a:t>
                      </a:r>
                    </a:p>
                  </a:txBody>
                  <a:tcPr anchor="ctr" marL="54864" marR="54864" marT="27432" marB="27432">
                    <a:solidFill>
                      <a:srgbClr val="E8EDF2"/>
                    </a:solidFill>
                  </a:tcPr>
                </a:tc>
                <a:tc>
                  <a:txBody>
                    <a:bodyPr/>
                    <a:lstStyle/>
                    <a:p>
                      <a:pPr algn="ctr">
                        <a:defRPr sz="1000" b="0">
                          <a:solidFill>
                            <a:srgbClr val="2D3748"/>
                          </a:solidFill>
                        </a:defRPr>
                      </a:pPr>
                      <a:r>
                        <a:t>Customer trust, privacy protection, and accountability</a:t>
                      </a:r>
                    </a:p>
                  </a:txBody>
                  <a:tcPr anchor="ctr" marL="54864" marR="54864" marT="27432" marB="27432">
                    <a:solidFill>
                      <a:srgbClr val="E8EDF2"/>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Explainability Requirements by Use Case</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Which AI use cases require explainability — and why</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Design</a:t>
            </a:r>
          </a:p>
        </p:txBody>
      </p:sp>
      <p:graphicFrame>
        <p:nvGraphicFramePr>
          <p:cNvPr id="6" name="Table 5"/>
          <p:cNvGraphicFramePr>
            <a:graphicFrameLocks noGrp="1"/>
          </p:cNvGraphicFramePr>
          <p:nvPr/>
        </p:nvGraphicFramePr>
        <p:xfrm>
          <a:off x="411480" y="1234440"/>
          <a:ext cx="11338560" cy="4892040"/>
        </p:xfrm>
        <a:graphic>
          <a:graphicData uri="http://schemas.openxmlformats.org/drawingml/2006/table">
            <a:tbl>
              <a:tblPr firstRow="1" bandRow="1">
                <a:tableStyleId>{5C22544A-7EE6-4342-B048-85BDC9FD1C3A}</a:tableStyleId>
              </a:tblPr>
              <a:tblGrid>
                <a:gridCol w="3779520"/>
                <a:gridCol w="3779520"/>
                <a:gridCol w="3779520"/>
              </a:tblGrid>
              <a:tr h="698862">
                <a:tc>
                  <a:txBody>
                    <a:bodyPr/>
                    <a:lstStyle/>
                    <a:p>
                      <a:pPr algn="l">
                        <a:defRPr sz="1000" b="1">
                          <a:solidFill>
                            <a:srgbClr val="FFFFFF"/>
                          </a:solidFill>
                        </a:defRPr>
                      </a:pPr>
                      <a:r>
                        <a:t>Use Case</a:t>
                      </a:r>
                    </a:p>
                  </a:txBody>
                  <a:tcPr anchor="ctr" marL="54864" marR="54864" marT="27432" marB="27432">
                    <a:solidFill>
                      <a:srgbClr val="007A87"/>
                    </a:solidFill>
                  </a:tcPr>
                </a:tc>
                <a:tc>
                  <a:txBody>
                    <a:bodyPr/>
                    <a:lstStyle/>
                    <a:p>
                      <a:pPr algn="l">
                        <a:defRPr sz="1000" b="1">
                          <a:solidFill>
                            <a:srgbClr val="FFFFFF"/>
                          </a:solidFill>
                        </a:defRPr>
                      </a:pPr>
                      <a:r>
                        <a:t>Explainability Required?</a:t>
                      </a:r>
                    </a:p>
                  </a:txBody>
                  <a:tcPr anchor="ctr" marL="54864" marR="54864" marT="27432" marB="27432">
                    <a:solidFill>
                      <a:srgbClr val="007A87"/>
                    </a:solidFill>
                  </a:tcPr>
                </a:tc>
                <a:tc>
                  <a:txBody>
                    <a:bodyPr/>
                    <a:lstStyle/>
                    <a:p>
                      <a:pPr algn="l">
                        <a:defRPr sz="1000" b="1">
                          <a:solidFill>
                            <a:srgbClr val="FFFFFF"/>
                          </a:solidFill>
                        </a:defRPr>
                      </a:pPr>
                      <a:r>
                        <a:t>Rationale</a:t>
                      </a:r>
                    </a:p>
                  </a:txBody>
                  <a:tcPr anchor="ctr" marL="54864" marR="54864" marT="27432" marB="27432">
                    <a:solidFill>
                      <a:srgbClr val="007A87"/>
                    </a:solidFill>
                  </a:tcPr>
                </a:tc>
              </a:tr>
              <a:tr h="698862">
                <a:tc>
                  <a:txBody>
                    <a:bodyPr/>
                    <a:lstStyle/>
                    <a:p>
                      <a:pPr algn="l">
                        <a:defRPr sz="1000" b="0">
                          <a:solidFill>
                            <a:srgbClr val="2D3748"/>
                          </a:solidFill>
                        </a:defRPr>
                      </a:pPr>
                      <a:r>
                        <a:t>AI Malware Detection Engine</a:t>
                      </a:r>
                    </a:p>
                  </a:txBody>
                  <a:tcPr anchor="ctr" marL="54864" marR="54864" marT="27432" marB="27432">
                    <a:solidFill>
                      <a:srgbClr val="FFFFFF"/>
                    </a:solidFill>
                  </a:tcPr>
                </a:tc>
                <a:tc>
                  <a:txBody>
                    <a:bodyPr/>
                    <a:lstStyle/>
                    <a:p>
                      <a:pPr algn="ctr">
                        <a:defRPr sz="1000" b="0">
                          <a:solidFill>
                            <a:srgbClr val="2D3748"/>
                          </a:solidFill>
                        </a:defRPr>
                      </a:pPr>
                      <a:r>
                        <a:t>YES — High</a:t>
                      </a:r>
                    </a:p>
                  </a:txBody>
                  <a:tcPr anchor="ctr" marL="54864" marR="54864" marT="27432" marB="27432">
                    <a:solidFill>
                      <a:srgbClr val="FFFFFF"/>
                    </a:solidFill>
                  </a:tcPr>
                </a:tc>
                <a:tc>
                  <a:txBody>
                    <a:bodyPr/>
                    <a:lstStyle/>
                    <a:p>
                      <a:pPr algn="ctr">
                        <a:defRPr sz="1000" b="0">
                          <a:solidFill>
                            <a:srgbClr val="2D3748"/>
                          </a:solidFill>
                        </a:defRPr>
                      </a:pPr>
                      <a:r>
                        <a:t>Scores drive quarantine/block actions. Opaque models can be evaded (Cylance case) and harm customers through false positives.</a:t>
                      </a:r>
                    </a:p>
                  </a:txBody>
                  <a:tcPr anchor="ctr" marL="54864" marR="54864" marT="27432" marB="27432">
                    <a:solidFill>
                      <a:srgbClr val="FFFFFF"/>
                    </a:solidFill>
                  </a:tcPr>
                </a:tc>
              </a:tr>
              <a:tr h="698862">
                <a:tc>
                  <a:txBody>
                    <a:bodyPr/>
                    <a:lstStyle/>
                    <a:p>
                      <a:pPr algn="l">
                        <a:defRPr sz="1000" b="0">
                          <a:solidFill>
                            <a:srgbClr val="2D3748"/>
                          </a:solidFill>
                        </a:defRPr>
                      </a:pPr>
                      <a:r>
                        <a:t>SOC Alert Triage</a:t>
                      </a:r>
                    </a:p>
                  </a:txBody>
                  <a:tcPr anchor="ctr" marL="54864" marR="54864" marT="27432" marB="27432">
                    <a:solidFill>
                      <a:srgbClr val="E8EDF2"/>
                    </a:solidFill>
                  </a:tcPr>
                </a:tc>
                <a:tc>
                  <a:txBody>
                    <a:bodyPr/>
                    <a:lstStyle/>
                    <a:p>
                      <a:pPr algn="ctr">
                        <a:defRPr sz="1000" b="0">
                          <a:solidFill>
                            <a:srgbClr val="2D3748"/>
                          </a:solidFill>
                        </a:defRPr>
                      </a:pPr>
                      <a:r>
                        <a:t>YES — High</a:t>
                      </a:r>
                    </a:p>
                  </a:txBody>
                  <a:tcPr anchor="ctr" marL="54864" marR="54864" marT="27432" marB="27432">
                    <a:solidFill>
                      <a:srgbClr val="E8EDF2"/>
                    </a:solidFill>
                  </a:tcPr>
                </a:tc>
                <a:tc>
                  <a:txBody>
                    <a:bodyPr/>
                    <a:lstStyle/>
                    <a:p>
                      <a:pPr algn="ctr">
                        <a:defRPr sz="1000" b="0">
                          <a:solidFill>
                            <a:srgbClr val="2D3748"/>
                          </a:solidFill>
                        </a:defRPr>
                      </a:pPr>
                      <a:r>
                        <a:t>Analysts must understand why an alert ranked high before reassigning resources or closing tickets; builds justified trust.</a:t>
                      </a:r>
                    </a:p>
                  </a:txBody>
                  <a:tcPr anchor="ctr" marL="54864" marR="54864" marT="27432" marB="27432">
                    <a:solidFill>
                      <a:srgbClr val="E8EDF2"/>
                    </a:solidFill>
                  </a:tcPr>
                </a:tc>
              </a:tr>
              <a:tr h="698862">
                <a:tc>
                  <a:txBody>
                    <a:bodyPr/>
                    <a:lstStyle/>
                    <a:p>
                      <a:pPr algn="l">
                        <a:defRPr sz="1000" b="0">
                          <a:solidFill>
                            <a:srgbClr val="2D3748"/>
                          </a:solidFill>
                        </a:defRPr>
                      </a:pPr>
                      <a:r>
                        <a:t>Incident Response Recommendations</a:t>
                      </a:r>
                    </a:p>
                  </a:txBody>
                  <a:tcPr anchor="ctr" marL="54864" marR="54864" marT="27432" marB="27432">
                    <a:solidFill>
                      <a:srgbClr val="FFFFFF"/>
                    </a:solidFill>
                  </a:tcPr>
                </a:tc>
                <a:tc>
                  <a:txBody>
                    <a:bodyPr/>
                    <a:lstStyle/>
                    <a:p>
                      <a:pPr algn="ctr">
                        <a:defRPr sz="1000" b="0">
                          <a:solidFill>
                            <a:srgbClr val="2D3748"/>
                          </a:solidFill>
                        </a:defRPr>
                      </a:pPr>
                      <a:r>
                        <a:t>YES — Critical</a:t>
                      </a:r>
                    </a:p>
                  </a:txBody>
                  <a:tcPr anchor="ctr" marL="54864" marR="54864" marT="27432" marB="27432">
                    <a:solidFill>
                      <a:srgbClr val="FFFFFF"/>
                    </a:solidFill>
                  </a:tcPr>
                </a:tc>
                <a:tc>
                  <a:txBody>
                    <a:bodyPr/>
                    <a:lstStyle/>
                    <a:p>
                      <a:pPr algn="ctr">
                        <a:defRPr sz="1000" b="0">
                          <a:solidFill>
                            <a:srgbClr val="2D3748"/>
                          </a:solidFill>
                        </a:defRPr>
                      </a:pPr>
                      <a:r>
                        <a:t>Consequential actions on live systems require reason codes, feature attribution, and human approval thresholds.</a:t>
                      </a:r>
                    </a:p>
                  </a:txBody>
                  <a:tcPr anchor="ctr" marL="54864" marR="54864" marT="27432" marB="27432">
                    <a:solidFill>
                      <a:srgbClr val="FFFFFF"/>
                    </a:solidFill>
                  </a:tcPr>
                </a:tc>
              </a:tr>
              <a:tr h="698862">
                <a:tc>
                  <a:txBody>
                    <a:bodyPr/>
                    <a:lstStyle/>
                    <a:p>
                      <a:pPr algn="l">
                        <a:defRPr sz="1000" b="0">
                          <a:solidFill>
                            <a:srgbClr val="2D3748"/>
                          </a:solidFill>
                        </a:defRPr>
                      </a:pPr>
                      <a:r>
                        <a:t>Vendor AI Risk Assessment</a:t>
                      </a:r>
                    </a:p>
                  </a:txBody>
                  <a:tcPr anchor="ctr" marL="54864" marR="54864" marT="27432" marB="27432">
                    <a:solidFill>
                      <a:srgbClr val="E8EDF2"/>
                    </a:solidFill>
                  </a:tcPr>
                </a:tc>
                <a:tc>
                  <a:txBody>
                    <a:bodyPr/>
                    <a:lstStyle/>
                    <a:p>
                      <a:pPr algn="ctr">
                        <a:defRPr sz="1000" b="0">
                          <a:solidFill>
                            <a:srgbClr val="2D3748"/>
                          </a:solidFill>
                        </a:defRPr>
                      </a:pPr>
                      <a:r>
                        <a:t>YES — Medium</a:t>
                      </a:r>
                    </a:p>
                  </a:txBody>
                  <a:tcPr anchor="ctr" marL="54864" marR="54864" marT="27432" marB="27432">
                    <a:solidFill>
                      <a:srgbClr val="E8EDF2"/>
                    </a:solidFill>
                  </a:tcPr>
                </a:tc>
                <a:tc>
                  <a:txBody>
                    <a:bodyPr/>
                    <a:lstStyle/>
                    <a:p>
                      <a:pPr algn="ctr">
                        <a:defRPr sz="1000" b="0">
                          <a:solidFill>
                            <a:srgbClr val="2D3748"/>
                          </a:solidFill>
                        </a:defRPr>
                      </a:pPr>
                      <a:r>
                        <a:t>Procurement decisions need documented criteria and traceable scoring; full model internals may remain vendor-confidential.</a:t>
                      </a:r>
                    </a:p>
                  </a:txBody>
                  <a:tcPr anchor="ctr" marL="54864" marR="54864" marT="27432" marB="27432">
                    <a:solidFill>
                      <a:srgbClr val="E8EDF2"/>
                    </a:solidFill>
                  </a:tcPr>
                </a:tc>
              </a:tr>
              <a:tr h="698862">
                <a:tc>
                  <a:txBody>
                    <a:bodyPr/>
                    <a:lstStyle/>
                    <a:p>
                      <a:pPr algn="l">
                        <a:defRPr sz="1000" b="0">
                          <a:solidFill>
                            <a:srgbClr val="2D3748"/>
                          </a:solidFill>
                        </a:defRPr>
                      </a:pPr>
                      <a:r>
                        <a:t>Internal IT Knowledge Search</a:t>
                      </a:r>
                    </a:p>
                  </a:txBody>
                  <a:tcPr anchor="ctr" marL="54864" marR="54864" marT="27432" marB="27432">
                    <a:solidFill>
                      <a:srgbClr val="FFFFFF"/>
                    </a:solidFill>
                  </a:tcPr>
                </a:tc>
                <a:tc>
                  <a:txBody>
                    <a:bodyPr/>
                    <a:lstStyle/>
                    <a:p>
                      <a:pPr algn="ctr">
                        <a:defRPr sz="1000" b="0">
                          <a:solidFill>
                            <a:srgbClr val="2D3748"/>
                          </a:solidFill>
                        </a:defRPr>
                      </a:pPr>
                      <a:r>
                        <a:t>NO — Low</a:t>
                      </a:r>
                    </a:p>
                  </a:txBody>
                  <a:tcPr anchor="ctr" marL="54864" marR="54864" marT="27432" marB="27432">
                    <a:solidFill>
                      <a:srgbClr val="FFFFFF"/>
                    </a:solidFill>
                  </a:tcPr>
                </a:tc>
                <a:tc>
                  <a:txBody>
                    <a:bodyPr/>
                    <a:lstStyle/>
                    <a:p>
                      <a:pPr algn="ctr">
                        <a:defRPr sz="1000" b="0">
                          <a:solidFill>
                            <a:srgbClr val="2D3748"/>
                          </a:solidFill>
                        </a:defRPr>
                      </a:pPr>
                      <a:r>
                        <a:t>Informational retrieval with no automated adverse action; standard disclosure that AI assists search is sufficient.</a:t>
                      </a:r>
                    </a:p>
                  </a:txBody>
                  <a:tcPr anchor="ctr" marL="54864" marR="54864" marT="27432" marB="27432">
                    <a:solidFill>
                      <a:srgbClr val="FFFFFF"/>
                    </a:solidFill>
                  </a:tcPr>
                </a:tc>
              </a:tr>
              <a:tr h="698868">
                <a:tc>
                  <a:txBody>
                    <a:bodyPr/>
                    <a:lstStyle/>
                    <a:p>
                      <a:pPr algn="l">
                        <a:defRPr sz="1000" b="0">
                          <a:solidFill>
                            <a:srgbClr val="2D3748"/>
                          </a:solidFill>
                        </a:defRPr>
                      </a:pPr>
                      <a:r>
                        <a:t>HR Interview Scheduling Bot</a:t>
                      </a:r>
                    </a:p>
                  </a:txBody>
                  <a:tcPr anchor="ctr" marL="54864" marR="54864" marT="27432" marB="27432">
                    <a:solidFill>
                      <a:srgbClr val="E8EDF2"/>
                    </a:solidFill>
                  </a:tcPr>
                </a:tc>
                <a:tc>
                  <a:txBody>
                    <a:bodyPr/>
                    <a:lstStyle/>
                    <a:p>
                      <a:pPr algn="ctr">
                        <a:defRPr sz="1000" b="0">
                          <a:solidFill>
                            <a:srgbClr val="2D3748"/>
                          </a:solidFill>
                        </a:defRPr>
                      </a:pPr>
                      <a:r>
                        <a:t>NO — Low</a:t>
                      </a:r>
                    </a:p>
                  </a:txBody>
                  <a:tcPr anchor="ctr" marL="54864" marR="54864" marT="27432" marB="27432">
                    <a:solidFill>
                      <a:srgbClr val="E8EDF2"/>
                    </a:solidFill>
                  </a:tcPr>
                </a:tc>
                <a:tc>
                  <a:txBody>
                    <a:bodyPr/>
                    <a:lstStyle/>
                    <a:p>
                      <a:pPr algn="ctr">
                        <a:defRPr sz="1000" b="0">
                          <a:solidFill>
                            <a:srgbClr val="2D3748"/>
                          </a:solidFill>
                        </a:defRPr>
                      </a:pPr>
                      <a:r>
                        <a:t>Administrative coordination only; low risk if no evaluative decisions are made by the tool.</a:t>
                      </a:r>
                    </a:p>
                  </a:txBody>
                  <a:tcPr anchor="ctr" marL="54864" marR="54864" marT="27432" marB="27432">
                    <a:solidFill>
                      <a:srgbClr val="E8EDF2"/>
                    </a:solidFill>
                  </a:tcPr>
                </a:tc>
              </a:tr>
            </a:tbl>
          </a:graphicData>
        </a:graphic>
      </p:graphicFrame>
      <p:sp>
        <p:nvSpPr>
          <p:cNvPr id="7" name="TextBox 6"/>
          <p:cNvSpPr txBox="1"/>
          <p:nvPr/>
        </p:nvSpPr>
        <p:spPr>
          <a:xfrm>
            <a:off x="548640" y="6144768"/>
            <a:ext cx="10972800" cy="320040"/>
          </a:xfrm>
          <a:prstGeom prst="rect">
            <a:avLst/>
          </a:prstGeom>
          <a:noFill/>
        </p:spPr>
        <p:txBody>
          <a:bodyPr wrap="none">
            <a:spAutoFit/>
          </a:bodyPr>
          <a:lstStyle/>
          <a:p>
            <a:pPr>
              <a:defRPr sz="1000" i="1">
                <a:solidFill>
                  <a:srgbClr val="71859B"/>
                </a:solidFill>
              </a:defRPr>
            </a:pPr>
            <a:r>
              <a:t>Aligned with Assignment 1.3: secure, reliable, explainable, accountable AI. Explainability intensity increases with impact on customer systems, threat response, and human rights.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Evaluating AI Transparency &amp; Explainability</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Process mapped to Assignment 1.3 ethics performance metrics</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Design</a:t>
            </a:r>
          </a:p>
        </p:txBody>
      </p:sp>
      <p:graphicFrame>
        <p:nvGraphicFramePr>
          <p:cNvPr id="6" name="Table 5"/>
          <p:cNvGraphicFramePr>
            <a:graphicFrameLocks noGrp="1"/>
          </p:cNvGraphicFramePr>
          <p:nvPr/>
        </p:nvGraphicFramePr>
        <p:xfrm>
          <a:off x="457200" y="1280160"/>
          <a:ext cx="11247120" cy="4709160"/>
        </p:xfrm>
        <a:graphic>
          <a:graphicData uri="http://schemas.openxmlformats.org/drawingml/2006/table">
            <a:tbl>
              <a:tblPr firstRow="1" bandRow="1">
                <a:tableStyleId>{5C22544A-7EE6-4342-B048-85BDC9FD1C3A}</a:tableStyleId>
              </a:tblPr>
              <a:tblGrid>
                <a:gridCol w="3749040"/>
                <a:gridCol w="3749040"/>
                <a:gridCol w="3749040"/>
              </a:tblGrid>
              <a:tr h="588645">
                <a:tc>
                  <a:txBody>
                    <a:bodyPr/>
                    <a:lstStyle/>
                    <a:p>
                      <a:pPr algn="l">
                        <a:defRPr sz="900" b="1">
                          <a:solidFill>
                            <a:srgbClr val="FFFFFF"/>
                          </a:solidFill>
                        </a:defRPr>
                      </a:pPr>
                      <a:r>
                        <a:t>Step</a:t>
                      </a:r>
                    </a:p>
                  </a:txBody>
                  <a:tcPr anchor="ctr" marL="54864" marR="54864" marT="27432" marB="27432">
                    <a:solidFill>
                      <a:srgbClr val="007A87"/>
                    </a:solidFill>
                  </a:tcPr>
                </a:tc>
                <a:tc>
                  <a:txBody>
                    <a:bodyPr/>
                    <a:lstStyle/>
                    <a:p>
                      <a:pPr algn="l">
                        <a:defRPr sz="900" b="1">
                          <a:solidFill>
                            <a:srgbClr val="FFFFFF"/>
                          </a:solidFill>
                        </a:defRPr>
                      </a:pPr>
                      <a:r>
                        <a:t>Activity</a:t>
                      </a:r>
                    </a:p>
                  </a:txBody>
                  <a:tcPr anchor="ctr" marL="54864" marR="54864" marT="27432" marB="27432">
                    <a:solidFill>
                      <a:srgbClr val="007A87"/>
                    </a:solidFill>
                  </a:tcPr>
                </a:tc>
                <a:tc>
                  <a:txBody>
                    <a:bodyPr/>
                    <a:lstStyle/>
                    <a:p>
                      <a:pPr algn="l">
                        <a:defRPr sz="900" b="1">
                          <a:solidFill>
                            <a:srgbClr val="FFFFFF"/>
                          </a:solidFill>
                        </a:defRPr>
                      </a:pPr>
                      <a:r>
                        <a:t>Pass Criteria (1.3 Metrics)</a:t>
                      </a:r>
                    </a:p>
                  </a:txBody>
                  <a:tcPr anchor="ctr" marL="54864" marR="54864" marT="27432" marB="27432">
                    <a:solidFill>
                      <a:srgbClr val="007A87"/>
                    </a:solidFill>
                  </a:tcPr>
                </a:tc>
              </a:tr>
              <a:tr h="588645">
                <a:tc>
                  <a:txBody>
                    <a:bodyPr/>
                    <a:lstStyle/>
                    <a:p>
                      <a:pPr algn="l">
                        <a:defRPr sz="900" b="0">
                          <a:solidFill>
                            <a:srgbClr val="2D3748"/>
                          </a:solidFill>
                        </a:defRPr>
                      </a:pPr>
                      <a:r>
                        <a:t>1</a:t>
                      </a:r>
                    </a:p>
                  </a:txBody>
                  <a:tcPr anchor="ctr" marL="54864" marR="54864" marT="27432" marB="27432">
                    <a:solidFill>
                      <a:srgbClr val="FFFFFF"/>
                    </a:solidFill>
                  </a:tcPr>
                </a:tc>
                <a:tc>
                  <a:txBody>
                    <a:bodyPr/>
                    <a:lstStyle/>
                    <a:p>
                      <a:pPr algn="ctr">
                        <a:defRPr sz="900" b="0">
                          <a:solidFill>
                            <a:srgbClr val="2D3748"/>
                          </a:solidFill>
                        </a:defRPr>
                      </a:pPr>
                      <a:r>
                        <a:t>Classify use case risk tier</a:t>
                      </a:r>
                    </a:p>
                  </a:txBody>
                  <a:tcPr anchor="ctr" marL="54864" marR="54864" marT="27432" marB="27432">
                    <a:solidFill>
                      <a:srgbClr val="FFFFFF"/>
                    </a:solidFill>
                  </a:tcPr>
                </a:tc>
                <a:tc>
                  <a:txBody>
                    <a:bodyPr/>
                    <a:lstStyle/>
                    <a:p>
                      <a:pPr algn="ctr">
                        <a:defRPr sz="900" b="0">
                          <a:solidFill>
                            <a:srgbClr val="2D3748"/>
                          </a:solidFill>
                        </a:defRPr>
                      </a:pPr>
                      <a:r>
                        <a:t>Document impact on threat response, customer trust, privacy, or operations</a:t>
                      </a:r>
                    </a:p>
                  </a:txBody>
                  <a:tcPr anchor="ctr" marL="54864" marR="54864" marT="27432" marB="27432">
                    <a:solidFill>
                      <a:srgbClr val="FFFFFF"/>
                    </a:solidFill>
                  </a:tcPr>
                </a:tc>
              </a:tr>
              <a:tr h="588645">
                <a:tc>
                  <a:txBody>
                    <a:bodyPr/>
                    <a:lstStyle/>
                    <a:p>
                      <a:pPr algn="l">
                        <a:defRPr sz="900" b="0">
                          <a:solidFill>
                            <a:srgbClr val="2D3748"/>
                          </a:solidFill>
                        </a:defRPr>
                      </a:pPr>
                      <a:r>
                        <a:t>2</a:t>
                      </a:r>
                    </a:p>
                  </a:txBody>
                  <a:tcPr anchor="ctr" marL="54864" marR="54864" marT="27432" marB="27432">
                    <a:solidFill>
                      <a:srgbClr val="E8EDF2"/>
                    </a:solidFill>
                  </a:tcPr>
                </a:tc>
                <a:tc>
                  <a:txBody>
                    <a:bodyPr/>
                    <a:lstStyle/>
                    <a:p>
                      <a:pPr algn="ctr">
                        <a:defRPr sz="900" b="0">
                          <a:solidFill>
                            <a:srgbClr val="2D3748"/>
                          </a:solidFill>
                        </a:defRPr>
                      </a:pPr>
                      <a:r>
                        <a:t>Define transparency &amp; disclosure plan</a:t>
                      </a:r>
                    </a:p>
                  </a:txBody>
                  <a:tcPr anchor="ctr" marL="54864" marR="54864" marT="27432" marB="27432">
                    <a:solidFill>
                      <a:srgbClr val="E8EDF2"/>
                    </a:solidFill>
                  </a:tcPr>
                </a:tc>
                <a:tc>
                  <a:txBody>
                    <a:bodyPr/>
                    <a:lstStyle/>
                    <a:p>
                      <a:pPr algn="ctr">
                        <a:defRPr sz="900" b="0">
                          <a:solidFill>
                            <a:srgbClr val="2D3748"/>
                          </a:solidFill>
                        </a:defRPr>
                      </a:pPr>
                      <a:r>
                        <a:t>States what data is used, how AI is used, and who is accountable</a:t>
                      </a:r>
                    </a:p>
                  </a:txBody>
                  <a:tcPr anchor="ctr" marL="54864" marR="54864" marT="27432" marB="27432">
                    <a:solidFill>
                      <a:srgbClr val="E8EDF2"/>
                    </a:solidFill>
                  </a:tcPr>
                </a:tc>
              </a:tr>
              <a:tr h="588645">
                <a:tc>
                  <a:txBody>
                    <a:bodyPr/>
                    <a:lstStyle/>
                    <a:p>
                      <a:pPr algn="l">
                        <a:defRPr sz="900" b="0">
                          <a:solidFill>
                            <a:srgbClr val="2D3748"/>
                          </a:solidFill>
                        </a:defRPr>
                      </a:pPr>
                      <a:r>
                        <a:t>3</a:t>
                      </a:r>
                    </a:p>
                  </a:txBody>
                  <a:tcPr anchor="ctr" marL="54864" marR="54864" marT="27432" marB="27432">
                    <a:solidFill>
                      <a:srgbClr val="FFFFFF"/>
                    </a:solidFill>
                  </a:tcPr>
                </a:tc>
                <a:tc>
                  <a:txBody>
                    <a:bodyPr/>
                    <a:lstStyle/>
                    <a:p>
                      <a:pPr algn="ctr">
                        <a:defRPr sz="900" b="0">
                          <a:solidFill>
                            <a:srgbClr val="2D3748"/>
                          </a:solidFill>
                        </a:defRPr>
                      </a:pPr>
                      <a:r>
                        <a:t>Conduct XAI assessment</a:t>
                      </a:r>
                    </a:p>
                  </a:txBody>
                  <a:tcPr anchor="ctr" marL="54864" marR="54864" marT="27432" marB="27432">
                    <a:solidFill>
                      <a:srgbClr val="FFFFFF"/>
                    </a:solidFill>
                  </a:tcPr>
                </a:tc>
                <a:tc>
                  <a:txBody>
                    <a:bodyPr/>
                    <a:lstStyle/>
                    <a:p>
                      <a:pPr algn="ctr">
                        <a:defRPr sz="900" b="0">
                          <a:solidFill>
                            <a:srgbClr val="2D3748"/>
                          </a:solidFill>
                        </a:defRPr>
                      </a:pPr>
                      <a:r>
                        <a:t>Explainability Coverage: 90%+ for high/critical use cases</a:t>
                      </a:r>
                    </a:p>
                  </a:txBody>
                  <a:tcPr anchor="ctr" marL="54864" marR="54864" marT="27432" marB="27432">
                    <a:solidFill>
                      <a:srgbClr val="FFFFFF"/>
                    </a:solidFill>
                  </a:tcPr>
                </a:tc>
              </a:tr>
              <a:tr h="588645">
                <a:tc>
                  <a:txBody>
                    <a:bodyPr/>
                    <a:lstStyle/>
                    <a:p>
                      <a:pPr algn="l">
                        <a:defRPr sz="900" b="0">
                          <a:solidFill>
                            <a:srgbClr val="2D3748"/>
                          </a:solidFill>
                        </a:defRPr>
                      </a:pPr>
                      <a:r>
                        <a:t>4</a:t>
                      </a:r>
                    </a:p>
                  </a:txBody>
                  <a:tcPr anchor="ctr" marL="54864" marR="54864" marT="27432" marB="27432">
                    <a:solidFill>
                      <a:srgbClr val="E8EDF2"/>
                    </a:solidFill>
                  </a:tcPr>
                </a:tc>
                <a:tc>
                  <a:txBody>
                    <a:bodyPr/>
                    <a:lstStyle/>
                    <a:p>
                      <a:pPr algn="ctr">
                        <a:defRPr sz="900" b="0">
                          <a:solidFill>
                            <a:srgbClr val="2D3748"/>
                          </a:solidFill>
                        </a:defRPr>
                      </a:pPr>
                      <a:r>
                        <a:t>Run bias &amp; adversarial testing</a:t>
                      </a:r>
                    </a:p>
                  </a:txBody>
                  <a:tcPr anchor="ctr" marL="54864" marR="54864" marT="27432" marB="27432">
                    <a:solidFill>
                      <a:srgbClr val="E8EDF2"/>
                    </a:solidFill>
                  </a:tcPr>
                </a:tc>
                <a:tc>
                  <a:txBody>
                    <a:bodyPr/>
                    <a:lstStyle/>
                    <a:p>
                      <a:pPr algn="ctr">
                        <a:defRPr sz="900" b="0">
                          <a:solidFill>
                            <a:srgbClr val="2D3748"/>
                          </a:solidFill>
                        </a:defRPr>
                      </a:pPr>
                      <a:r>
                        <a:t>Bias Testing Pass Rate: &gt;95%; False Positive Rate: &lt;5%</a:t>
                      </a:r>
                    </a:p>
                  </a:txBody>
                  <a:tcPr anchor="ctr" marL="54864" marR="54864" marT="27432" marB="27432">
                    <a:solidFill>
                      <a:srgbClr val="E8EDF2"/>
                    </a:solidFill>
                  </a:tcPr>
                </a:tc>
              </a:tr>
              <a:tr h="588645">
                <a:tc>
                  <a:txBody>
                    <a:bodyPr/>
                    <a:lstStyle/>
                    <a:p>
                      <a:pPr algn="l">
                        <a:defRPr sz="900" b="0">
                          <a:solidFill>
                            <a:srgbClr val="2D3748"/>
                          </a:solidFill>
                        </a:defRPr>
                      </a:pPr>
                      <a:r>
                        <a:t>5</a:t>
                      </a:r>
                    </a:p>
                  </a:txBody>
                  <a:tcPr anchor="ctr" marL="54864" marR="54864" marT="27432" marB="27432">
                    <a:solidFill>
                      <a:srgbClr val="FFFFFF"/>
                    </a:solidFill>
                  </a:tcPr>
                </a:tc>
                <a:tc>
                  <a:txBody>
                    <a:bodyPr/>
                    <a:lstStyle/>
                    <a:p>
                      <a:pPr algn="ctr">
                        <a:defRPr sz="900" b="0">
                          <a:solidFill>
                            <a:srgbClr val="2D3748"/>
                          </a:solidFill>
                        </a:defRPr>
                      </a:pPr>
                      <a:r>
                        <a:t>Human-in-the-loop review</a:t>
                      </a:r>
                    </a:p>
                  </a:txBody>
                  <a:tcPr anchor="ctr" marL="54864" marR="54864" marT="27432" marB="27432">
                    <a:solidFill>
                      <a:srgbClr val="FFFFFF"/>
                    </a:solidFill>
                  </a:tcPr>
                </a:tc>
                <a:tc>
                  <a:txBody>
                    <a:bodyPr/>
                    <a:lstStyle/>
                    <a:p>
                      <a:pPr algn="ctr">
                        <a:defRPr sz="900" b="0">
                          <a:solidFill>
                            <a:srgbClr val="2D3748"/>
                          </a:solidFill>
                        </a:defRPr>
                      </a:pPr>
                      <a:r>
                        <a:t>Human Review Coverage: 100% of critical incidents</a:t>
                      </a:r>
                    </a:p>
                  </a:txBody>
                  <a:tcPr anchor="ctr" marL="54864" marR="54864" marT="27432" marB="27432">
                    <a:solidFill>
                      <a:srgbClr val="FFFFFF"/>
                    </a:solidFill>
                  </a:tcPr>
                </a:tc>
              </a:tr>
              <a:tr h="588645">
                <a:tc>
                  <a:txBody>
                    <a:bodyPr/>
                    <a:lstStyle/>
                    <a:p>
                      <a:pPr algn="l">
                        <a:defRPr sz="900" b="0">
                          <a:solidFill>
                            <a:srgbClr val="2D3748"/>
                          </a:solidFill>
                        </a:defRPr>
                      </a:pPr>
                      <a:r>
                        <a:t>6</a:t>
                      </a:r>
                    </a:p>
                  </a:txBody>
                  <a:tcPr anchor="ctr" marL="54864" marR="54864" marT="27432" marB="27432">
                    <a:solidFill>
                      <a:srgbClr val="E8EDF2"/>
                    </a:solidFill>
                  </a:tcPr>
                </a:tc>
                <a:tc>
                  <a:txBody>
                    <a:bodyPr/>
                    <a:lstStyle/>
                    <a:p>
                      <a:pPr algn="ctr">
                        <a:defRPr sz="900" b="0">
                          <a:solidFill>
                            <a:srgbClr val="2D3748"/>
                          </a:solidFill>
                        </a:defRPr>
                      </a:pPr>
                      <a:r>
                        <a:t>AI Review Board approval</a:t>
                      </a:r>
                    </a:p>
                  </a:txBody>
                  <a:tcPr anchor="ctr" marL="54864" marR="54864" marT="27432" marB="27432">
                    <a:solidFill>
                      <a:srgbClr val="E8EDF2"/>
                    </a:solidFill>
                  </a:tcPr>
                </a:tc>
                <a:tc>
                  <a:txBody>
                    <a:bodyPr/>
                    <a:lstStyle/>
                    <a:p>
                      <a:pPr algn="ctr">
                        <a:defRPr sz="900" b="0">
                          <a:solidFill>
                            <a:srgbClr val="2D3748"/>
                          </a:solidFill>
                        </a:defRPr>
                      </a:pPr>
                      <a:r>
                        <a:t>AI Governance Compliance: 100% before production release</a:t>
                      </a:r>
                    </a:p>
                  </a:txBody>
                  <a:tcPr anchor="ctr" marL="54864" marR="54864" marT="27432" marB="27432">
                    <a:solidFill>
                      <a:srgbClr val="E8EDF2"/>
                    </a:solidFill>
                  </a:tcPr>
                </a:tc>
              </a:tr>
              <a:tr h="588645">
                <a:tc>
                  <a:txBody>
                    <a:bodyPr/>
                    <a:lstStyle/>
                    <a:p>
                      <a:pPr algn="l">
                        <a:defRPr sz="900" b="0">
                          <a:solidFill>
                            <a:srgbClr val="2D3748"/>
                          </a:solidFill>
                        </a:defRPr>
                      </a:pPr>
                      <a:r>
                        <a:t>7</a:t>
                      </a:r>
                    </a:p>
                  </a:txBody>
                  <a:tcPr anchor="ctr" marL="54864" marR="54864" marT="27432" marB="27432">
                    <a:solidFill>
                      <a:srgbClr val="FFFFFF"/>
                    </a:solidFill>
                  </a:tcPr>
                </a:tc>
                <a:tc>
                  <a:txBody>
                    <a:bodyPr/>
                    <a:lstStyle/>
                    <a:p>
                      <a:pPr algn="ctr">
                        <a:defRPr sz="900" b="0">
                          <a:solidFill>
                            <a:srgbClr val="2D3748"/>
                          </a:solidFill>
                        </a:defRPr>
                      </a:pPr>
                      <a:r>
                        <a:t>Continuous monitoring</a:t>
                      </a:r>
                    </a:p>
                  </a:txBody>
                  <a:tcPr anchor="ctr" marL="54864" marR="54864" marT="27432" marB="27432">
                    <a:solidFill>
                      <a:srgbClr val="FFFFFF"/>
                    </a:solidFill>
                  </a:tcPr>
                </a:tc>
                <a:tc>
                  <a:txBody>
                    <a:bodyPr/>
                    <a:lstStyle/>
                    <a:p>
                      <a:pPr algn="ctr">
                        <a:defRPr sz="900" b="0">
                          <a:solidFill>
                            <a:srgbClr val="2D3748"/>
                          </a:solidFill>
                        </a:defRPr>
                      </a:pPr>
                      <a:r>
                        <a:t>Track bias, performance degradation, and unintended consequences</a:t>
                      </a:r>
                    </a:p>
                  </a:txBody>
                  <a:tcPr anchor="ct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Transparency Documentation Across the AI Lifecycle</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Required artifacts at each development stage</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Design</a:t>
            </a:r>
          </a:p>
        </p:txBody>
      </p:sp>
      <p:graphicFrame>
        <p:nvGraphicFramePr>
          <p:cNvPr id="6" name="Table 5"/>
          <p:cNvGraphicFramePr>
            <a:graphicFrameLocks noGrp="1"/>
          </p:cNvGraphicFramePr>
          <p:nvPr/>
        </p:nvGraphicFramePr>
        <p:xfrm>
          <a:off x="411480" y="1234440"/>
          <a:ext cx="11338560" cy="4892040"/>
        </p:xfrm>
        <a:graphic>
          <a:graphicData uri="http://schemas.openxmlformats.org/drawingml/2006/table">
            <a:tbl>
              <a:tblPr firstRow="1" bandRow="1">
                <a:tableStyleId>{5C22544A-7EE6-4342-B048-85BDC9FD1C3A}</a:tableStyleId>
              </a:tblPr>
              <a:tblGrid>
                <a:gridCol w="3779520"/>
                <a:gridCol w="3779520"/>
                <a:gridCol w="3779520"/>
              </a:tblGrid>
              <a:tr h="698862">
                <a:tc>
                  <a:txBody>
                    <a:bodyPr/>
                    <a:lstStyle/>
                    <a:p>
                      <a:pPr algn="l">
                        <a:defRPr sz="1000" b="1">
                          <a:solidFill>
                            <a:srgbClr val="FFFFFF"/>
                          </a:solidFill>
                        </a:defRPr>
                      </a:pPr>
                      <a:r>
                        <a:t>Lifecycle Stage</a:t>
                      </a:r>
                    </a:p>
                  </a:txBody>
                  <a:tcPr anchor="ctr" marL="54864" marR="54864" marT="27432" marB="27432">
                    <a:solidFill>
                      <a:srgbClr val="007A87"/>
                    </a:solidFill>
                  </a:tcPr>
                </a:tc>
                <a:tc>
                  <a:txBody>
                    <a:bodyPr/>
                    <a:lstStyle/>
                    <a:p>
                      <a:pPr algn="l">
                        <a:defRPr sz="1000" b="1">
                          <a:solidFill>
                            <a:srgbClr val="FFFFFF"/>
                          </a:solidFill>
                        </a:defRPr>
                      </a:pPr>
                      <a:r>
                        <a:t>Required Documentation</a:t>
                      </a:r>
                    </a:p>
                  </a:txBody>
                  <a:tcPr anchor="ctr" marL="54864" marR="54864" marT="27432" marB="27432">
                    <a:solidFill>
                      <a:srgbClr val="007A87"/>
                    </a:solidFill>
                  </a:tcPr>
                </a:tc>
                <a:tc>
                  <a:txBody>
                    <a:bodyPr/>
                    <a:lstStyle/>
                    <a:p>
                      <a:pPr algn="l">
                        <a:defRPr sz="1000" b="1">
                          <a:solidFill>
                            <a:srgbClr val="FFFFFF"/>
                          </a:solidFill>
                        </a:defRPr>
                      </a:pPr>
                      <a:r>
                        <a:t>Transparency Purpose</a:t>
                      </a:r>
                    </a:p>
                  </a:txBody>
                  <a:tcPr anchor="ctr" marL="54864" marR="54864" marT="27432" marB="27432">
                    <a:solidFill>
                      <a:srgbClr val="007A87"/>
                    </a:solidFill>
                  </a:tcPr>
                </a:tc>
              </a:tr>
              <a:tr h="698862">
                <a:tc>
                  <a:txBody>
                    <a:bodyPr/>
                    <a:lstStyle/>
                    <a:p>
                      <a:pPr algn="l">
                        <a:defRPr sz="1000" b="0">
                          <a:solidFill>
                            <a:srgbClr val="2D3748"/>
                          </a:solidFill>
                        </a:defRPr>
                      </a:pPr>
                      <a:r>
                        <a:t>1. Business Request</a:t>
                      </a:r>
                    </a:p>
                  </a:txBody>
                  <a:tcPr anchor="ctr" marL="54864" marR="54864" marT="27432" marB="27432">
                    <a:solidFill>
                      <a:srgbClr val="FFFFFF"/>
                    </a:solidFill>
                  </a:tcPr>
                </a:tc>
                <a:tc>
                  <a:txBody>
                    <a:bodyPr/>
                    <a:lstStyle/>
                    <a:p>
                      <a:pPr algn="ctr">
                        <a:defRPr sz="1000" b="0">
                          <a:solidFill>
                            <a:srgbClr val="2D3748"/>
                          </a:solidFill>
                        </a:defRPr>
                      </a:pPr>
                      <a:r>
                        <a:t>Use case brief, affected stakeholders, intended users, automation level</a:t>
                      </a:r>
                    </a:p>
                  </a:txBody>
                  <a:tcPr anchor="ctr" marL="54864" marR="54864" marT="27432" marB="27432">
                    <a:solidFill>
                      <a:srgbClr val="FFFFFF"/>
                    </a:solidFill>
                  </a:tcPr>
                </a:tc>
                <a:tc>
                  <a:txBody>
                    <a:bodyPr/>
                    <a:lstStyle/>
                    <a:p>
                      <a:pPr algn="ctr">
                        <a:defRPr sz="1000" b="0">
                          <a:solidFill>
                            <a:srgbClr val="2D3748"/>
                          </a:solidFill>
                        </a:defRPr>
                      </a:pPr>
                      <a:r>
                        <a:t>Clarifies who is impacted and whether AI should be used at all</a:t>
                      </a:r>
                    </a:p>
                  </a:txBody>
                  <a:tcPr anchor="ctr" marL="54864" marR="54864" marT="27432" marB="27432">
                    <a:solidFill>
                      <a:srgbClr val="FFFFFF"/>
                    </a:solidFill>
                  </a:tcPr>
                </a:tc>
              </a:tr>
              <a:tr h="698862">
                <a:tc>
                  <a:txBody>
                    <a:bodyPr/>
                    <a:lstStyle/>
                    <a:p>
                      <a:pPr algn="l">
                        <a:defRPr sz="1000" b="0">
                          <a:solidFill>
                            <a:srgbClr val="2D3748"/>
                          </a:solidFill>
                        </a:defRPr>
                      </a:pPr>
                      <a:r>
                        <a:t>2. Design</a:t>
                      </a:r>
                    </a:p>
                  </a:txBody>
                  <a:tcPr anchor="ctr" marL="54864" marR="54864" marT="27432" marB="27432">
                    <a:solidFill>
                      <a:srgbClr val="E8EDF2"/>
                    </a:solidFill>
                  </a:tcPr>
                </a:tc>
                <a:tc>
                  <a:txBody>
                    <a:bodyPr/>
                    <a:lstStyle/>
                    <a:p>
                      <a:pPr algn="ctr">
                        <a:defRPr sz="1000" b="0">
                          <a:solidFill>
                            <a:srgbClr val="2D3748"/>
                          </a:solidFill>
                        </a:defRPr>
                      </a:pPr>
                      <a:r>
                        <a:t>Model card draft, data flow diagram, privacy impact summary, disclosure plan</a:t>
                      </a:r>
                    </a:p>
                  </a:txBody>
                  <a:tcPr anchor="ctr" marL="54864" marR="54864" marT="27432" marB="27432">
                    <a:solidFill>
                      <a:srgbClr val="E8EDF2"/>
                    </a:solidFill>
                  </a:tcPr>
                </a:tc>
                <a:tc>
                  <a:txBody>
                    <a:bodyPr/>
                    <a:lstStyle/>
                    <a:p>
                      <a:pPr algn="ctr">
                        <a:defRPr sz="1000" b="0">
                          <a:solidFill>
                            <a:srgbClr val="2D3748"/>
                          </a:solidFill>
                        </a:defRPr>
                      </a:pPr>
                      <a:r>
                        <a:t>Documents what data is used and how decisions will be explained</a:t>
                      </a:r>
                    </a:p>
                  </a:txBody>
                  <a:tcPr anchor="ctr" marL="54864" marR="54864" marT="27432" marB="27432">
                    <a:solidFill>
                      <a:srgbClr val="E8EDF2"/>
                    </a:solidFill>
                  </a:tcPr>
                </a:tc>
              </a:tr>
              <a:tr h="698862">
                <a:tc>
                  <a:txBody>
                    <a:bodyPr/>
                    <a:lstStyle/>
                    <a:p>
                      <a:pPr algn="l">
                        <a:defRPr sz="1000" b="0">
                          <a:solidFill>
                            <a:srgbClr val="2D3748"/>
                          </a:solidFill>
                        </a:defRPr>
                      </a:pPr>
                      <a:r>
                        <a:t>3. Development</a:t>
                      </a:r>
                    </a:p>
                  </a:txBody>
                  <a:tcPr anchor="ctr" marL="54864" marR="54864" marT="27432" marB="27432">
                    <a:solidFill>
                      <a:srgbClr val="FFFFFF"/>
                    </a:solidFill>
                  </a:tcPr>
                </a:tc>
                <a:tc>
                  <a:txBody>
                    <a:bodyPr/>
                    <a:lstStyle/>
                    <a:p>
                      <a:pPr algn="ctr">
                        <a:defRPr sz="1000" b="0">
                          <a:solidFill>
                            <a:srgbClr val="2D3748"/>
                          </a:solidFill>
                        </a:defRPr>
                      </a:pPr>
                      <a:r>
                        <a:t>Training data lineage, feature list, known limitations, version control log</a:t>
                      </a:r>
                    </a:p>
                  </a:txBody>
                  <a:tcPr anchor="ctr" marL="54864" marR="54864" marT="27432" marB="27432">
                    <a:solidFill>
                      <a:srgbClr val="FFFFFF"/>
                    </a:solidFill>
                  </a:tcPr>
                </a:tc>
                <a:tc>
                  <a:txBody>
                    <a:bodyPr/>
                    <a:lstStyle/>
                    <a:p>
                      <a:pPr algn="ctr">
                        <a:defRPr sz="1000" b="0">
                          <a:solidFill>
                            <a:srgbClr val="2D3748"/>
                          </a:solidFill>
                        </a:defRPr>
                      </a:pPr>
                      <a:r>
                        <a:t>Enables traceability and future audit of model behavior</a:t>
                      </a:r>
                    </a:p>
                  </a:txBody>
                  <a:tcPr anchor="ctr" marL="54864" marR="54864" marT="27432" marB="27432">
                    <a:solidFill>
                      <a:srgbClr val="FFFFFF"/>
                    </a:solidFill>
                  </a:tcPr>
                </a:tc>
              </a:tr>
              <a:tr h="698862">
                <a:tc>
                  <a:txBody>
                    <a:bodyPr/>
                    <a:lstStyle/>
                    <a:p>
                      <a:pPr algn="l">
                        <a:defRPr sz="1000" b="0">
                          <a:solidFill>
                            <a:srgbClr val="2D3748"/>
                          </a:solidFill>
                        </a:defRPr>
                      </a:pPr>
                      <a:r>
                        <a:t>4. Testing</a:t>
                      </a:r>
                    </a:p>
                  </a:txBody>
                  <a:tcPr anchor="ctr" marL="54864" marR="54864" marT="27432" marB="27432">
                    <a:solidFill>
                      <a:srgbClr val="E8EDF2"/>
                    </a:solidFill>
                  </a:tcPr>
                </a:tc>
                <a:tc>
                  <a:txBody>
                    <a:bodyPr/>
                    <a:lstStyle/>
                    <a:p>
                      <a:pPr algn="ctr">
                        <a:defRPr sz="1000" b="0">
                          <a:solidFill>
                            <a:srgbClr val="2D3748"/>
                          </a:solidFill>
                        </a:defRPr>
                      </a:pPr>
                      <a:r>
                        <a:t>Explainability report, bias audit results, adversarial test log, false-positive analysis</a:t>
                      </a:r>
                    </a:p>
                  </a:txBody>
                  <a:tcPr anchor="ctr" marL="54864" marR="54864" marT="27432" marB="27432">
                    <a:solidFill>
                      <a:srgbClr val="E8EDF2"/>
                    </a:solidFill>
                  </a:tcPr>
                </a:tc>
                <a:tc>
                  <a:txBody>
                    <a:bodyPr/>
                    <a:lstStyle/>
                    <a:p>
                      <a:pPr algn="ctr">
                        <a:defRPr sz="1000" b="0">
                          <a:solidFill>
                            <a:srgbClr val="2D3748"/>
                          </a:solidFill>
                        </a:defRPr>
                      </a:pPr>
                      <a:r>
                        <a:t>Verifies the system is understandable and safe before release</a:t>
                      </a:r>
                    </a:p>
                  </a:txBody>
                  <a:tcPr anchor="ctr" marL="54864" marR="54864" marT="27432" marB="27432">
                    <a:solidFill>
                      <a:srgbClr val="E8EDF2"/>
                    </a:solidFill>
                  </a:tcPr>
                </a:tc>
              </a:tr>
              <a:tr h="698862">
                <a:tc>
                  <a:txBody>
                    <a:bodyPr/>
                    <a:lstStyle/>
                    <a:p>
                      <a:pPr algn="l">
                        <a:defRPr sz="1000" b="0">
                          <a:solidFill>
                            <a:srgbClr val="2D3748"/>
                          </a:solidFill>
                        </a:defRPr>
                      </a:pPr>
                      <a:r>
                        <a:t>5. Deployment</a:t>
                      </a:r>
                    </a:p>
                  </a:txBody>
                  <a:tcPr anchor="ctr" marL="54864" marR="54864" marT="27432" marB="27432">
                    <a:solidFill>
                      <a:srgbClr val="FFFFFF"/>
                    </a:solidFill>
                  </a:tcPr>
                </a:tc>
                <a:tc>
                  <a:txBody>
                    <a:bodyPr/>
                    <a:lstStyle/>
                    <a:p>
                      <a:pPr algn="ctr">
                        <a:defRPr sz="1000" b="0">
                          <a:solidFill>
                            <a:srgbClr val="2D3748"/>
                          </a:solidFill>
                        </a:defRPr>
                      </a:pPr>
                      <a:r>
                        <a:t>User/customer disclosure text, SOC runbook, accountability matrix, approval record</a:t>
                      </a:r>
                    </a:p>
                  </a:txBody>
                  <a:tcPr anchor="ctr" marL="54864" marR="54864" marT="27432" marB="27432">
                    <a:solidFill>
                      <a:srgbClr val="FFFFFF"/>
                    </a:solidFill>
                  </a:tcPr>
                </a:tc>
                <a:tc>
                  <a:txBody>
                    <a:bodyPr/>
                    <a:lstStyle/>
                    <a:p>
                      <a:pPr algn="ctr">
                        <a:defRPr sz="1000" b="0">
                          <a:solidFill>
                            <a:srgbClr val="2D3748"/>
                          </a:solidFill>
                        </a:defRPr>
                      </a:pPr>
                      <a:r>
                        <a:t>Ensures operators and customers know AI is involved and who is responsible</a:t>
                      </a:r>
                    </a:p>
                  </a:txBody>
                  <a:tcPr anchor="ctr" marL="54864" marR="54864" marT="27432" marB="27432">
                    <a:solidFill>
                      <a:srgbClr val="FFFFFF"/>
                    </a:solidFill>
                  </a:tcPr>
                </a:tc>
              </a:tr>
              <a:tr h="698868">
                <a:tc>
                  <a:txBody>
                    <a:bodyPr/>
                    <a:lstStyle/>
                    <a:p>
                      <a:pPr algn="l">
                        <a:defRPr sz="1000" b="0">
                          <a:solidFill>
                            <a:srgbClr val="2D3748"/>
                          </a:solidFill>
                        </a:defRPr>
                      </a:pPr>
                      <a:r>
                        <a:t>6. Monitoring</a:t>
                      </a:r>
                    </a:p>
                  </a:txBody>
                  <a:tcPr anchor="ctr" marL="54864" marR="54864" marT="27432" marB="27432">
                    <a:solidFill>
                      <a:srgbClr val="E8EDF2"/>
                    </a:solidFill>
                  </a:tcPr>
                </a:tc>
                <a:tc>
                  <a:txBody>
                    <a:bodyPr/>
                    <a:lstStyle/>
                    <a:p>
                      <a:pPr algn="ctr">
                        <a:defRPr sz="1000" b="0">
                          <a:solidFill>
                            <a:srgbClr val="2D3748"/>
                          </a:solidFill>
                        </a:defRPr>
                      </a:pPr>
                      <a:r>
                        <a:t>Drift dashboards, bias/performance degradation logs, incident reports, retraining log</a:t>
                      </a:r>
                    </a:p>
                  </a:txBody>
                  <a:tcPr anchor="ctr" marL="54864" marR="54864" marT="27432" marB="27432">
                    <a:solidFill>
                      <a:srgbClr val="E8EDF2"/>
                    </a:solidFill>
                  </a:tcPr>
                </a:tc>
                <a:tc>
                  <a:txBody>
                    <a:bodyPr/>
                    <a:lstStyle/>
                    <a:p>
                      <a:pPr algn="ctr">
                        <a:defRPr sz="1000" b="0">
                          <a:solidFill>
                            <a:srgbClr val="2D3748"/>
                          </a:solidFill>
                        </a:defRPr>
                      </a:pPr>
                      <a:r>
                        <a:t>Supports continuous monitoring for bias, degradation, and unintended consequences (1.3)</a:t>
                      </a:r>
                    </a:p>
                  </a:txBody>
                  <a:tcPr anchor="ctr" marL="54864" marR="54864" marT="27432" marB="27432">
                    <a:solidFill>
                      <a:srgbClr val="E8EDF2"/>
                    </a:solidFill>
                  </a:tcPr>
                </a:tc>
              </a:tr>
            </a:tbl>
          </a:graphicData>
        </a:graphic>
      </p:graphicFrame>
      <p:sp>
        <p:nvSpPr>
          <p:cNvPr id="7" name="TextBox 6"/>
          <p:cNvSpPr txBox="1"/>
          <p:nvPr/>
        </p:nvSpPr>
        <p:spPr>
          <a:xfrm>
            <a:off x="548640" y="6144768"/>
            <a:ext cx="10972800" cy="320040"/>
          </a:xfrm>
          <a:prstGeom prst="rect">
            <a:avLst/>
          </a:prstGeom>
          <a:noFill/>
        </p:spPr>
        <p:txBody>
          <a:bodyPr wrap="none">
            <a:spAutoFit/>
          </a:bodyPr>
          <a:lstStyle/>
          <a:p>
            <a:pPr>
              <a:defRPr sz="1000" i="1">
                <a:solidFill>
                  <a:srgbClr val="71859B"/>
                </a:solidFill>
              </a:defRPr>
            </a:pPr>
            <a:r>
              <a:t>Assignment 1.3 targets: Bias Testing &gt;95% | False Positives &lt;5% | Human Review 100% critical incidents | Explainability 90%+ | Governance Compliance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Reflection</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Difficulties and open questions from Workshop 2</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Design</a:t>
            </a:r>
          </a:p>
        </p:txBody>
      </p:sp>
      <p:sp>
        <p:nvSpPr>
          <p:cNvPr id="6" name="TextBox 5"/>
          <p:cNvSpPr txBox="1"/>
          <p:nvPr/>
        </p:nvSpPr>
        <p:spPr>
          <a:xfrm>
            <a:off x="731520" y="1325880"/>
            <a:ext cx="10789920" cy="4846320"/>
          </a:xfrm>
          <a:prstGeom prst="rect">
            <a:avLst/>
          </a:prstGeom>
          <a:noFill/>
        </p:spPr>
        <p:txBody>
          <a:bodyPr wrap="square">
            <a:spAutoFit/>
          </a:bodyPr>
          <a:lstStyle/>
          <a:p>
            <a:pPr>
              <a:spcBef>
                <a:spcPts val="800"/>
              </a:spcBef>
              <a:spcAft>
                <a:spcPts val="400"/>
              </a:spcAft>
              <a:defRPr sz="1700">
                <a:solidFill>
                  <a:srgbClr val="2D3748"/>
                </a:solidFill>
              </a:defRPr>
            </a:pPr>
            <a:r>
              <a:t>Measuring fairness objectively remains difficult, even with our &gt;95% bias testing target from Assignment 1.3.</a:t>
            </a:r>
          </a:p>
          <a:p>
            <a:pPr>
              <a:spcBef>
                <a:spcPts val="800"/>
              </a:spcBef>
              <a:spcAft>
                <a:spcPts val="400"/>
              </a:spcAft>
              <a:defRPr sz="1700">
                <a:solidFill>
                  <a:srgbClr val="2D3748"/>
                </a:solidFill>
              </a:defRPr>
            </a:pPr>
            <a:r>
              <a:t>Balancing transparency with security is my biggest concern — the Cylance case showed opacity hurts customers, yet detailed model disclosure may help attackers.</a:t>
            </a:r>
          </a:p>
          <a:p>
            <a:pPr>
              <a:spcBef>
                <a:spcPts val="800"/>
              </a:spcBef>
              <a:spcAft>
                <a:spcPts val="400"/>
              </a:spcAft>
              <a:defRPr sz="1700">
                <a:solidFill>
                  <a:srgbClr val="2D3748"/>
                </a:solidFill>
              </a:defRPr>
            </a:pPr>
            <a:r>
              <a:t>I am still unsure how to define our 90%+ explainability coverage in practical SOC terms: what counts as a sufficient explanation for an analyst under time pressure?</a:t>
            </a:r>
          </a:p>
          <a:p>
            <a:pPr>
              <a:spcBef>
                <a:spcPts val="800"/>
              </a:spcBef>
              <a:spcAft>
                <a:spcPts val="400"/>
              </a:spcAft>
              <a:defRPr sz="1700">
                <a:solidFill>
                  <a:srgbClr val="2D3748"/>
                </a:solidFill>
              </a:defRPr>
            </a:pPr>
            <a:r>
              <a:t>Determining acceptable automation levels is hard — our ethics statement requires human authority over critical actions, but response speed matters in cybersecurity.</a:t>
            </a:r>
          </a:p>
          <a:p>
            <a:pPr>
              <a:spcBef>
                <a:spcPts val="800"/>
              </a:spcBef>
              <a:spcAft>
                <a:spcPts val="400"/>
              </a:spcAft>
              <a:defRPr sz="1700">
                <a:solidFill>
                  <a:srgbClr val="2D3748"/>
                </a:solidFill>
              </a:defRPr>
            </a:pPr>
            <a:r>
              <a:t>Open question: How do we monitor model drift and unintended consequences continuously without slowing incident response?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References</a:t>
            </a:r>
          </a:p>
        </p:txBody>
      </p:sp>
      <p:sp>
        <p:nvSpPr>
          <p:cNvPr id="4" name="TextBox 3"/>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Design</a:t>
            </a:r>
          </a:p>
        </p:txBody>
      </p:sp>
      <p:sp>
        <p:nvSpPr>
          <p:cNvPr id="5" name="TextBox 4"/>
          <p:cNvSpPr txBox="1"/>
          <p:nvPr/>
        </p:nvSpPr>
        <p:spPr>
          <a:xfrm>
            <a:off x="914400" y="1645920"/>
            <a:ext cx="10058400" cy="4389120"/>
          </a:xfrm>
          <a:prstGeom prst="rect">
            <a:avLst/>
          </a:prstGeom>
          <a:noFill/>
        </p:spPr>
        <p:txBody>
          <a:bodyPr wrap="none">
            <a:spAutoFit/>
          </a:bodyPr>
          <a:lstStyle/>
          <a:p>
            <a:pPr>
              <a:spcBef>
                <a:spcPts val="800"/>
              </a:spcBef>
              <a:spcAft>
                <a:spcPts val="400"/>
              </a:spcAft>
              <a:defRPr sz="1600">
                <a:solidFill>
                  <a:srgbClr val="2D3748"/>
                </a:solidFill>
              </a:defRPr>
            </a:pPr>
            <a:r>
              <a:t>Blackman, R. (2022). Ethical Machines. Harvard Business Review Press.</a:t>
            </a:r>
          </a:p>
          <a:p>
            <a:pPr>
              <a:spcBef>
                <a:spcPts val="800"/>
              </a:spcBef>
              <a:spcAft>
                <a:spcPts val="400"/>
              </a:spcAft>
              <a:defRPr sz="1600">
                <a:solidFill>
                  <a:srgbClr val="2D3748"/>
                </a:solidFill>
              </a:defRPr>
            </a:pPr>
            <a:r>
              <a:t>Google. (n.d.). AI Principles — transparency and accountability.</a:t>
            </a:r>
          </a:p>
          <a:p>
            <a:pPr>
              <a:spcBef>
                <a:spcPts val="800"/>
              </a:spcBef>
              <a:spcAft>
                <a:spcPts val="400"/>
              </a:spcAft>
              <a:defRPr sz="1600">
                <a:solidFill>
                  <a:srgbClr val="2D3748"/>
                </a:solidFill>
              </a:defRPr>
            </a:pPr>
            <a:r>
              <a:t>IBM. (n.d.). Everyday ethics for artificial intelligence.</a:t>
            </a:r>
          </a:p>
          <a:p>
            <a:pPr>
              <a:spcBef>
                <a:spcPts val="800"/>
              </a:spcBef>
              <a:spcAft>
                <a:spcPts val="400"/>
              </a:spcAft>
              <a:defRPr sz="1600">
                <a:solidFill>
                  <a:srgbClr val="2D3748"/>
                </a:solidFill>
              </a:defRPr>
            </a:pPr>
            <a:r>
              <a:t>Microsoft. (n.d.). Responsible AI Standard.</a:t>
            </a:r>
          </a:p>
          <a:p>
            <a:pPr>
              <a:spcBef>
                <a:spcPts val="800"/>
              </a:spcBef>
              <a:spcAft>
                <a:spcPts val="400"/>
              </a:spcAft>
              <a:defRPr sz="1600">
                <a:solidFill>
                  <a:srgbClr val="2D3748"/>
                </a:solidFill>
              </a:defRPr>
            </a:pPr>
            <a:r>
              <a:t>National Institute of Standards and Technology. (2023). AI Risk Management Framework 1.0.</a:t>
            </a:r>
          </a:p>
          <a:p>
            <a:pPr>
              <a:spcBef>
                <a:spcPts val="800"/>
              </a:spcBef>
              <a:spcAft>
                <a:spcPts val="400"/>
              </a:spcAft>
              <a:defRPr sz="1600">
                <a:solidFill>
                  <a:srgbClr val="2D3748"/>
                </a:solidFill>
              </a:defRPr>
            </a:pPr>
            <a:r>
              <a:t>Skylight Cyber. (2019). Cylance AI bypass research.</a:t>
            </a:r>
          </a:p>
          <a:p>
            <a:pPr>
              <a:spcBef>
                <a:spcPts val="800"/>
              </a:spcBef>
              <a:spcAft>
                <a:spcPts val="400"/>
              </a:spcAft>
              <a:defRPr sz="1600">
                <a:solidFill>
                  <a:srgbClr val="2D3748"/>
                </a:solidFill>
              </a:defRPr>
            </a:pPr>
            <a:r>
              <a:t>U.S. Department of Defense. (2024). Responsible AI Strategy and Implementation Pathway.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