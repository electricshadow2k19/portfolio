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743200"/>
            <a:ext cx="12191695" cy="73152"/>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0"/>
            <a:ext cx="10515600" cy="2926080"/>
          </a:xfrm>
          <a:prstGeom prst="rect">
            <a:avLst/>
          </a:prstGeom>
          <a:noFill/>
        </p:spPr>
        <p:txBody>
          <a:bodyPr wrap="none">
            <a:spAutoFit/>
          </a:bodyPr>
          <a:lstStyle/>
          <a:p>
            <a:pPr algn="ctr">
              <a:defRPr sz="3600" b="1">
                <a:solidFill>
                  <a:srgbClr val="FFFFFF"/>
                </a:solidFill>
              </a:defRPr>
            </a:pPr>
            <a:r>
              <a:t>SentinelOneX Security</a:t>
            </a:r>
            <a:br/>
            <a:r>
              <a:t>Final Responsible AI Framework</a:t>
            </a:r>
          </a:p>
          <a:p>
            <a:pPr algn="ctr">
              <a:defRPr sz="1600">
                <a:solidFill>
                  <a:srgbClr val="CBD5E0"/>
                </a:solidFill>
              </a:defRPr>
            </a:pPr>
            <a:r>
              <a:t>AIML-510-01 — Course Capstone | Assignment 6.5</a:t>
            </a:r>
          </a:p>
          <a:p>
            <a:pPr algn="ctr">
              <a:defRPr sz="1600">
                <a:solidFill>
                  <a:srgbClr val="CBD5E0"/>
                </a:solidFill>
              </a:defRPr>
            </a:pPr>
            <a:r>
              <a:t>Integrated from Assignments 1.3, 1.4, 2.4, 3.4, 4.4, 5.4 &amp; Workshop 6</a:t>
            </a:r>
          </a:p>
          <a:p>
            <a:pPr algn="ctr">
              <a:defRPr sz="1600">
                <a:solidFill>
                  <a:srgbClr val="CBD5E0"/>
                </a:solidFill>
              </a:defRPr>
            </a:pPr>
          </a:p>
          <a:p>
            <a:pPr algn="ctr">
              <a:defRPr sz="1600">
                <a:solidFill>
                  <a:srgbClr val="CBD5E0"/>
                </a:solidFill>
              </a:defRPr>
            </a:pPr>
            <a:r>
              <a:t>Arun Kumar Vallala | Indiana Wesleyan University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Framework Integration Overview</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How course assignments combine into one actionable RAI program</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pic>
        <p:nvPicPr>
          <p:cNvPr id="6" name="Picture 5" descr="chart_framework_map.png"/>
          <p:cNvPicPr>
            <a:picLocks noChangeAspect="1"/>
          </p:cNvPicPr>
          <p:nvPr/>
        </p:nvPicPr>
        <p:blipFill>
          <a:blip r:embed="rId2"/>
          <a:stretch>
            <a:fillRect/>
          </a:stretch>
        </p:blipFill>
        <p:spPr>
          <a:xfrm>
            <a:off x="320040" y="1115568"/>
            <a:ext cx="11521440" cy="608990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Ethical Principles Statement</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Assignment 1.3 — enhanced with Workshop 6 customer &amp; societal dimensions</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sp>
        <p:nvSpPr>
          <p:cNvPr id="6" name="Rounded Rectangle 5"/>
          <p:cNvSpPr/>
          <p:nvPr/>
        </p:nvSpPr>
        <p:spPr>
          <a:xfrm>
            <a:off x="548640" y="1234440"/>
            <a:ext cx="11155680" cy="2926080"/>
          </a:xfrm>
          <a:prstGeom prst="roundRect">
            <a:avLst/>
          </a:prstGeom>
          <a:solidFill>
            <a:srgbClr val="E8EDF2"/>
          </a:solidFill>
          <a:ln>
            <a:solidFill>
              <a:srgbClr val="007A87"/>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defRPr b="1" sz="1400">
                <a:solidFill>
                  <a:srgbClr val="1B2A4A"/>
                </a:solidFill>
              </a:defRPr>
            </a:pPr>
            <a:r>
              <a:t>SentinelOneX AI Ethics Statement</a:t>
            </a:r>
          </a:p>
          <a:p>
            <a:pPr>
              <a:lnSpc>
                <a:spcPct val="115000"/>
              </a:lnSpc>
              <a:defRPr sz="1300">
                <a:solidFill>
                  <a:srgbClr val="2D3748"/>
                </a:solidFill>
              </a:defRPr>
            </a:pPr>
            <a:r>
              <a:t>Our AI systems will improve cybersecurity outcomes while respecting privacy, fairness, transparency, and human oversight. We commit to secure, reliable, explainable, and accountable AI. Human decision-makers retain authority over critical security actions. We continuously monitor for bias, performance degradation, and unintended consequences. We empower customers—not create dependence. We communicate authentically about AI capabilities. We invest in workforce dignity, long-term sustainment, and societal responsibility in every AI product we build or deploy.</a:t>
            </a:r>
          </a:p>
        </p:txBody>
      </p:sp>
      <p:sp>
        <p:nvSpPr>
          <p:cNvPr id="7" name="TextBox 6"/>
          <p:cNvSpPr txBox="1"/>
          <p:nvPr/>
        </p:nvSpPr>
        <p:spPr>
          <a:xfrm>
            <a:off x="640080" y="4297680"/>
            <a:ext cx="10972800" cy="2011680"/>
          </a:xfrm>
          <a:prstGeom prst="rect">
            <a:avLst/>
          </a:prstGeom>
          <a:noFill/>
        </p:spPr>
        <p:txBody>
          <a:bodyPr wrap="square">
            <a:spAutoFit/>
          </a:bodyPr>
          <a:lstStyle/>
          <a:p>
            <a:pPr>
              <a:defRPr sz="1200">
                <a:solidFill>
                  <a:srgbClr val="2D3748"/>
                </a:solidFill>
              </a:defRPr>
            </a:pPr>
            <a:r>
              <a:t>Core principles: Fairness | Accountability | Transparency | Privacy | Reliability | Human Oversight</a:t>
            </a:r>
          </a:p>
          <a:p>
            <a:pPr>
              <a:defRPr sz="1200">
                <a:solidFill>
                  <a:srgbClr val="2D3748"/>
                </a:solidFill>
              </a:defRPr>
            </a:pPr>
            <a:r>
              <a:t>Customer additions (6.2): Empowerment | Authenticity | Customer Agency | Trust Stewardship</a:t>
            </a:r>
          </a:p>
          <a:p>
            <a:pPr>
              <a:defRPr sz="1200">
                <a:solidFill>
                  <a:srgbClr val="2D3748"/>
                </a:solidFill>
              </a:defRPr>
            </a:pPr>
            <a:r>
              <a:t>Use cases: Malware Detection | SOC Alert Triage | Incident Response | Vendor AI Risk Assessment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Governance Structure &amp; Oversight</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Assignment 1.4 — organizational hierarchy</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graphicFrame>
        <p:nvGraphicFramePr>
          <p:cNvPr id="6" name="Table 5"/>
          <p:cNvGraphicFramePr>
            <a:graphicFrameLocks noGrp="1"/>
          </p:cNvGraphicFramePr>
          <p:nvPr/>
        </p:nvGraphicFramePr>
        <p:xfrm>
          <a:off x="411480" y="1234440"/>
          <a:ext cx="11338560" cy="4937760"/>
        </p:xfrm>
        <a:graphic>
          <a:graphicData uri="http://schemas.openxmlformats.org/drawingml/2006/table">
            <a:tbl>
              <a:tblPr firstRow="1" bandRow="1">
                <a:tableStyleId>{5C22544A-7EE6-4342-B048-85BDC9FD1C3A}</a:tableStyleId>
              </a:tblPr>
              <a:tblGrid>
                <a:gridCol w="3779520"/>
                <a:gridCol w="3779520"/>
                <a:gridCol w="3779520"/>
              </a:tblGrid>
              <a:tr h="617220">
                <a:tc>
                  <a:txBody>
                    <a:bodyPr/>
                    <a:lstStyle/>
                    <a:p>
                      <a:pPr>
                        <a:defRPr sz="900" b="1">
                          <a:solidFill>
                            <a:srgbClr val="FFFFFF"/>
                          </a:solidFill>
                        </a:defRPr>
                      </a:pPr>
                      <a:r>
                        <a:t>Level</a:t>
                      </a:r>
                    </a:p>
                  </a:txBody>
                  <a:tcPr anchor="ctr">
                    <a:solidFill>
                      <a:srgbClr val="007A87"/>
                    </a:solidFill>
                  </a:tcPr>
                </a:tc>
                <a:tc>
                  <a:txBody>
                    <a:bodyPr/>
                    <a:lstStyle/>
                    <a:p>
                      <a:pPr>
                        <a:defRPr sz="900" b="1">
                          <a:solidFill>
                            <a:srgbClr val="FFFFFF"/>
                          </a:solidFill>
                        </a:defRPr>
                      </a:pPr>
                      <a:r>
                        <a:t>Body / Role</a:t>
                      </a:r>
                    </a:p>
                  </a:txBody>
                  <a:tcPr anchor="ctr">
                    <a:solidFill>
                      <a:srgbClr val="007A87"/>
                    </a:solidFill>
                  </a:tcPr>
                </a:tc>
                <a:tc>
                  <a:txBody>
                    <a:bodyPr/>
                    <a:lstStyle/>
                    <a:p>
                      <a:pPr>
                        <a:defRPr sz="900" b="1">
                          <a:solidFill>
                            <a:srgbClr val="FFFFFF"/>
                          </a:solidFill>
                        </a:defRPr>
                      </a:pPr>
                      <a:r>
                        <a:t>Oversight Function</a:t>
                      </a:r>
                    </a:p>
                  </a:txBody>
                  <a:tcPr anchor="ctr">
                    <a:solidFill>
                      <a:srgbClr val="007A87"/>
                    </a:solidFill>
                  </a:tcPr>
                </a:tc>
              </a:tr>
              <a:tr h="617220">
                <a:tc>
                  <a:txBody>
                    <a:bodyPr/>
                    <a:lstStyle/>
                    <a:p>
                      <a:pPr>
                        <a:defRPr sz="900" b="0">
                          <a:solidFill>
                            <a:srgbClr val="2D3748"/>
                          </a:solidFill>
                        </a:defRPr>
                      </a:pPr>
                      <a:r>
                        <a:t>Executive</a:t>
                      </a:r>
                    </a:p>
                  </a:txBody>
                  <a:tcPr anchor="ctr">
                    <a:solidFill>
                      <a:srgbClr val="FFFFFF"/>
                    </a:solidFill>
                  </a:tcPr>
                </a:tc>
                <a:tc>
                  <a:txBody>
                    <a:bodyPr/>
                    <a:lstStyle/>
                    <a:p>
                      <a:pPr>
                        <a:defRPr sz="900" b="0">
                          <a:solidFill>
                            <a:srgbClr val="2D3748"/>
                          </a:solidFill>
                        </a:defRPr>
                      </a:pPr>
                      <a:r>
                        <a:t>Board of Directors + CTO (Executive Sponsor)</a:t>
                      </a:r>
                    </a:p>
                  </a:txBody>
                  <a:tcPr anchor="ctr">
                    <a:solidFill>
                      <a:srgbClr val="FFFFFF"/>
                    </a:solidFill>
                  </a:tcPr>
                </a:tc>
                <a:tc>
                  <a:txBody>
                    <a:bodyPr/>
                    <a:lstStyle/>
                    <a:p>
                      <a:pPr>
                        <a:defRPr sz="900" b="0">
                          <a:solidFill>
                            <a:srgbClr val="2D3748"/>
                          </a:solidFill>
                        </a:defRPr>
                      </a:pPr>
                      <a:r>
                        <a:t>Strategy, funding, ultimate accountability</a:t>
                      </a:r>
                    </a:p>
                  </a:txBody>
                  <a:tcPr anchor="ctr">
                    <a:solidFill>
                      <a:srgbClr val="FFFFFF"/>
                    </a:solidFill>
                  </a:tcPr>
                </a:tc>
              </a:tr>
              <a:tr h="617220">
                <a:tc>
                  <a:txBody>
                    <a:bodyPr/>
                    <a:lstStyle/>
                    <a:p>
                      <a:pPr>
                        <a:defRPr sz="900" b="0">
                          <a:solidFill>
                            <a:srgbClr val="2D3748"/>
                          </a:solidFill>
                        </a:defRPr>
                      </a:pPr>
                      <a:r>
                        <a:t>Governance</a:t>
                      </a:r>
                    </a:p>
                  </a:txBody>
                  <a:tcPr anchor="ctr">
                    <a:solidFill>
                      <a:srgbClr val="E8EDF2"/>
                    </a:solidFill>
                  </a:tcPr>
                </a:tc>
                <a:tc>
                  <a:txBody>
                    <a:bodyPr/>
                    <a:lstStyle/>
                    <a:p>
                      <a:pPr>
                        <a:defRPr sz="900" b="0">
                          <a:solidFill>
                            <a:srgbClr val="2D3748"/>
                          </a:solidFill>
                        </a:defRPr>
                      </a:pPr>
                      <a:r>
                        <a:t>AI Governance Manager + AI Ethics Officer</a:t>
                      </a:r>
                    </a:p>
                  </a:txBody>
                  <a:tcPr anchor="ctr">
                    <a:solidFill>
                      <a:srgbClr val="E8EDF2"/>
                    </a:solidFill>
                  </a:tcPr>
                </a:tc>
                <a:tc>
                  <a:txBody>
                    <a:bodyPr/>
                    <a:lstStyle/>
                    <a:p>
                      <a:pPr>
                        <a:defRPr sz="900" b="0">
                          <a:solidFill>
                            <a:srgbClr val="2D3748"/>
                          </a:solidFill>
                        </a:defRPr>
                      </a:pPr>
                      <a:r>
                        <a:t>Policy ownership, ethical reviews, compliance</a:t>
                      </a:r>
                    </a:p>
                  </a:txBody>
                  <a:tcPr anchor="ctr">
                    <a:solidFill>
                      <a:srgbClr val="E8EDF2"/>
                    </a:solidFill>
                  </a:tcPr>
                </a:tc>
              </a:tr>
              <a:tr h="617220">
                <a:tc>
                  <a:txBody>
                    <a:bodyPr/>
                    <a:lstStyle/>
                    <a:p>
                      <a:pPr>
                        <a:defRPr sz="900" b="0">
                          <a:solidFill>
                            <a:srgbClr val="2D3748"/>
                          </a:solidFill>
                        </a:defRPr>
                      </a:pPr>
                      <a:r>
                        <a:t>Technical</a:t>
                      </a:r>
                    </a:p>
                  </a:txBody>
                  <a:tcPr anchor="ctr">
                    <a:solidFill>
                      <a:srgbClr val="FFFFFF"/>
                    </a:solidFill>
                  </a:tcPr>
                </a:tc>
                <a:tc>
                  <a:txBody>
                    <a:bodyPr/>
                    <a:lstStyle/>
                    <a:p>
                      <a:pPr>
                        <a:defRPr sz="900" b="0">
                          <a:solidFill>
                            <a:srgbClr val="2D3748"/>
                          </a:solidFill>
                        </a:defRPr>
                      </a:pPr>
                      <a:r>
                        <a:t>AI Security Architect + AI/ML Lead Engineer</a:t>
                      </a:r>
                    </a:p>
                  </a:txBody>
                  <a:tcPr anchor="ctr">
                    <a:solidFill>
                      <a:srgbClr val="FFFFFF"/>
                    </a:solidFill>
                  </a:tcPr>
                </a:tc>
                <a:tc>
                  <a:txBody>
                    <a:bodyPr/>
                    <a:lstStyle/>
                    <a:p>
                      <a:pPr>
                        <a:defRPr sz="900" b="0">
                          <a:solidFill>
                            <a:srgbClr val="2D3748"/>
                          </a:solidFill>
                        </a:defRPr>
                      </a:pPr>
                      <a:r>
                        <a:t>Secure design, model development, testing</a:t>
                      </a:r>
                    </a:p>
                  </a:txBody>
                  <a:tcPr anchor="ctr">
                    <a:solidFill>
                      <a:srgbClr val="FFFFFF"/>
                    </a:solidFill>
                  </a:tcPr>
                </a:tc>
              </a:tr>
              <a:tr h="617220">
                <a:tc>
                  <a:txBody>
                    <a:bodyPr/>
                    <a:lstStyle/>
                    <a:p>
                      <a:pPr>
                        <a:defRPr sz="900" b="0">
                          <a:solidFill>
                            <a:srgbClr val="2D3748"/>
                          </a:solidFill>
                        </a:defRPr>
                      </a:pPr>
                      <a:r>
                        <a:t>Cross-Functional</a:t>
                      </a:r>
                    </a:p>
                  </a:txBody>
                  <a:tcPr anchor="ctr">
                    <a:solidFill>
                      <a:srgbClr val="E8EDF2"/>
                    </a:solidFill>
                  </a:tcPr>
                </a:tc>
                <a:tc>
                  <a:txBody>
                    <a:bodyPr/>
                    <a:lstStyle/>
                    <a:p>
                      <a:pPr>
                        <a:defRPr sz="900" b="0">
                          <a:solidFill>
                            <a:srgbClr val="2D3748"/>
                          </a:solidFill>
                        </a:defRPr>
                      </a:pPr>
                      <a:r>
                        <a:t>AI Review Board (quarterly)</a:t>
                      </a:r>
                    </a:p>
                  </a:txBody>
                  <a:tcPr anchor="ctr">
                    <a:solidFill>
                      <a:srgbClr val="E8EDF2"/>
                    </a:solidFill>
                  </a:tcPr>
                </a:tc>
                <a:tc>
                  <a:txBody>
                    <a:bodyPr/>
                    <a:lstStyle/>
                    <a:p>
                      <a:pPr>
                        <a:defRPr sz="900" b="0">
                          <a:solidFill>
                            <a:srgbClr val="2D3748"/>
                          </a:solidFill>
                        </a:defRPr>
                      </a:pPr>
                      <a:r>
                        <a:t>Pre-release sign-off; sustainment audits; incident review</a:t>
                      </a:r>
                    </a:p>
                  </a:txBody>
                  <a:tcPr anchor="ctr">
                    <a:solidFill>
                      <a:srgbClr val="E8EDF2"/>
                    </a:solidFill>
                  </a:tcPr>
                </a:tc>
              </a:tr>
              <a:tr h="617220">
                <a:tc>
                  <a:txBody>
                    <a:bodyPr/>
                    <a:lstStyle/>
                    <a:p>
                      <a:pPr>
                        <a:defRPr sz="900" b="0">
                          <a:solidFill>
                            <a:srgbClr val="2D3748"/>
                          </a:solidFill>
                        </a:defRPr>
                      </a:pPr>
                      <a:r>
                        <a:t>Operations</a:t>
                      </a:r>
                    </a:p>
                  </a:txBody>
                  <a:tcPr anchor="ctr">
                    <a:solidFill>
                      <a:srgbClr val="FFFFFF"/>
                    </a:solidFill>
                  </a:tcPr>
                </a:tc>
                <a:tc>
                  <a:txBody>
                    <a:bodyPr/>
                    <a:lstStyle/>
                    <a:p>
                      <a:pPr>
                        <a:defRPr sz="900" b="0">
                          <a:solidFill>
                            <a:srgbClr val="2D3748"/>
                          </a:solidFill>
                        </a:defRPr>
                      </a:pPr>
                      <a:r>
                        <a:t>SOC AI Product Manager + Risk &amp; Compliance Analyst</a:t>
                      </a:r>
                    </a:p>
                  </a:txBody>
                  <a:tcPr anchor="ctr">
                    <a:solidFill>
                      <a:srgbClr val="FFFFFF"/>
                    </a:solidFill>
                  </a:tcPr>
                </a:tc>
                <a:tc>
                  <a:txBody>
                    <a:bodyPr/>
                    <a:lstStyle/>
                    <a:p>
                      <a:pPr>
                        <a:defRPr sz="900" b="0">
                          <a:solidFill>
                            <a:srgbClr val="2D3748"/>
                          </a:solidFill>
                        </a:defRPr>
                      </a:pPr>
                      <a:r>
                        <a:t>Use case management, audits, KPI tracking</a:t>
                      </a:r>
                    </a:p>
                  </a:txBody>
                  <a:tcPr anchor="ctr">
                    <a:solidFill>
                      <a:srgbClr val="FFFFFF"/>
                    </a:solidFill>
                  </a:tcPr>
                </a:tc>
              </a:tr>
              <a:tr h="617220">
                <a:tc>
                  <a:txBody>
                    <a:bodyPr/>
                    <a:lstStyle/>
                    <a:p>
                      <a:pPr>
                        <a:defRPr sz="900" b="0">
                          <a:solidFill>
                            <a:srgbClr val="2D3748"/>
                          </a:solidFill>
                        </a:defRPr>
                      </a:pPr>
                      <a:r>
                        <a:t>Internal Process</a:t>
                      </a:r>
                    </a:p>
                  </a:txBody>
                  <a:tcPr anchor="ctr">
                    <a:solidFill>
                      <a:srgbClr val="E8EDF2"/>
                    </a:solidFill>
                  </a:tcPr>
                </a:tc>
                <a:tc>
                  <a:txBody>
                    <a:bodyPr/>
                    <a:lstStyle/>
                    <a:p>
                      <a:pPr>
                        <a:defRPr sz="900" b="0">
                          <a:solidFill>
                            <a:srgbClr val="2D3748"/>
                          </a:solidFill>
                        </a:defRPr>
                      </a:pPr>
                      <a:r>
                        <a:t>10-step AI Vetting Workflow</a:t>
                      </a:r>
                    </a:p>
                  </a:txBody>
                  <a:tcPr anchor="ctr">
                    <a:solidFill>
                      <a:srgbClr val="E8EDF2"/>
                    </a:solidFill>
                  </a:tcPr>
                </a:tc>
                <a:tc>
                  <a:txBody>
                    <a:bodyPr/>
                    <a:lstStyle/>
                    <a:p>
                      <a:pPr>
                        <a:defRPr sz="900" b="0">
                          <a:solidFill>
                            <a:srgbClr val="2D3748"/>
                          </a:solidFill>
                        </a:defRPr>
                      </a:pPr>
                      <a:r>
                        <a:t>Request → risk → ethics → data → dev → bias → security → board → deploy → monitor</a:t>
                      </a:r>
                    </a:p>
                  </a:txBody>
                  <a:tcPr anchor="ctr">
                    <a:solidFill>
                      <a:srgbClr val="E8EDF2"/>
                    </a:solidFill>
                  </a:tcPr>
                </a:tc>
              </a:tr>
              <a:tr h="617220">
                <a:tc>
                  <a:txBody>
                    <a:bodyPr/>
                    <a:lstStyle/>
                    <a:p>
                      <a:pPr>
                        <a:defRPr sz="900" b="0">
                          <a:solidFill>
                            <a:srgbClr val="2D3748"/>
                          </a:solidFill>
                        </a:defRPr>
                      </a:pPr>
                      <a:r>
                        <a:t>External Process</a:t>
                      </a:r>
                    </a:p>
                  </a:txBody>
                  <a:tcPr anchor="ctr">
                    <a:solidFill>
                      <a:srgbClr val="FFFFFF"/>
                    </a:solidFill>
                  </a:tcPr>
                </a:tc>
                <a:tc>
                  <a:txBody>
                    <a:bodyPr/>
                    <a:lstStyle/>
                    <a:p>
                      <a:pPr>
                        <a:defRPr sz="900" b="0">
                          <a:solidFill>
                            <a:srgbClr val="2D3748"/>
                          </a:solidFill>
                        </a:defRPr>
                      </a:pPr>
                      <a:r>
                        <a:t>9-step Vendor AI Procurement</a:t>
                      </a:r>
                    </a:p>
                  </a:txBody>
                  <a:tcPr anchor="ctr">
                    <a:solidFill>
                      <a:srgbClr val="FFFFFF"/>
                    </a:solidFill>
                  </a:tcPr>
                </a:tc>
                <a:tc>
                  <a:txBody>
                    <a:bodyPr/>
                    <a:lstStyle/>
                    <a:p>
                      <a:pPr>
                        <a:defRPr sz="900" b="0">
                          <a:solidFill>
                            <a:srgbClr val="2D3748"/>
                          </a:solidFill>
                        </a:defRPr>
                      </a:pPr>
                      <a:r>
                        <a:t>Identify → security → privacy → ethics → legal → pilot → approve → use → reassess</a:t>
                      </a:r>
                    </a:p>
                  </a:txBody>
                  <a:tcPr anchor="ctr">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Key Roles &amp; Responsibilities</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Seven accountable roles — Assignment 1.4</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graphicFrame>
        <p:nvGraphicFramePr>
          <p:cNvPr id="6" name="Table 5"/>
          <p:cNvGraphicFramePr>
            <a:graphicFrameLocks noGrp="1"/>
          </p:cNvGraphicFramePr>
          <p:nvPr/>
        </p:nvGraphicFramePr>
        <p:xfrm>
          <a:off x="411480" y="1234440"/>
          <a:ext cx="11338560" cy="4937760"/>
        </p:xfrm>
        <a:graphic>
          <a:graphicData uri="http://schemas.openxmlformats.org/drawingml/2006/table">
            <a:tbl>
              <a:tblPr firstRow="1" bandRow="1">
                <a:tableStyleId>{5C22544A-7EE6-4342-B048-85BDC9FD1C3A}</a:tableStyleId>
              </a:tblPr>
              <a:tblGrid>
                <a:gridCol w="3779520"/>
                <a:gridCol w="3779520"/>
                <a:gridCol w="3779520"/>
              </a:tblGrid>
              <a:tr h="617220">
                <a:tc>
                  <a:txBody>
                    <a:bodyPr/>
                    <a:lstStyle/>
                    <a:p>
                      <a:pPr>
                        <a:defRPr sz="900" b="1">
                          <a:solidFill>
                            <a:srgbClr val="FFFFFF"/>
                          </a:solidFill>
                        </a:defRPr>
                      </a:pPr>
                      <a:r>
                        <a:t>Role</a:t>
                      </a:r>
                    </a:p>
                  </a:txBody>
                  <a:tcPr anchor="ctr">
                    <a:solidFill>
                      <a:srgbClr val="007A87"/>
                    </a:solidFill>
                  </a:tcPr>
                </a:tc>
                <a:tc>
                  <a:txBody>
                    <a:bodyPr/>
                    <a:lstStyle/>
                    <a:p>
                      <a:pPr>
                        <a:defRPr sz="900" b="1">
                          <a:solidFill>
                            <a:srgbClr val="FFFFFF"/>
                          </a:solidFill>
                        </a:defRPr>
                      </a:pPr>
                      <a:r>
                        <a:t>Primary Responsibilities</a:t>
                      </a:r>
                    </a:p>
                  </a:txBody>
                  <a:tcPr anchor="ctr">
                    <a:solidFill>
                      <a:srgbClr val="007A87"/>
                    </a:solidFill>
                  </a:tcPr>
                </a:tc>
                <a:tc>
                  <a:txBody>
                    <a:bodyPr/>
                    <a:lstStyle/>
                    <a:p>
                      <a:pPr>
                        <a:defRPr sz="900" b="1">
                          <a:solidFill>
                            <a:srgbClr val="FFFFFF"/>
                          </a:solidFill>
                        </a:defRPr>
                      </a:pPr>
                      <a:r>
                        <a:t>Key Skills</a:t>
                      </a:r>
                    </a:p>
                  </a:txBody>
                  <a:tcPr anchor="ctr">
                    <a:solidFill>
                      <a:srgbClr val="007A87"/>
                    </a:solidFill>
                  </a:tcPr>
                </a:tc>
              </a:tr>
              <a:tr h="617220">
                <a:tc>
                  <a:txBody>
                    <a:bodyPr/>
                    <a:lstStyle/>
                    <a:p>
                      <a:pPr>
                        <a:defRPr sz="900" b="0">
                          <a:solidFill>
                            <a:srgbClr val="2D3748"/>
                          </a:solidFill>
                        </a:defRPr>
                      </a:pPr>
                      <a:r>
                        <a:t>CTO (Executive Sponsor)</a:t>
                      </a:r>
                    </a:p>
                  </a:txBody>
                  <a:tcPr anchor="ctr">
                    <a:solidFill>
                      <a:srgbClr val="FFFFFF"/>
                    </a:solidFill>
                  </a:tcPr>
                </a:tc>
                <a:tc>
                  <a:txBody>
                    <a:bodyPr/>
                    <a:lstStyle/>
                    <a:p>
                      <a:pPr>
                        <a:defRPr sz="900" b="0">
                          <a:solidFill>
                            <a:srgbClr val="2D3748"/>
                          </a:solidFill>
                        </a:defRPr>
                      </a:pPr>
                      <a:r>
                        <a:t>AI strategy, budget, final production approval</a:t>
                      </a:r>
                    </a:p>
                  </a:txBody>
                  <a:tcPr anchor="ctr">
                    <a:solidFill>
                      <a:srgbClr val="FFFFFF"/>
                    </a:solidFill>
                  </a:tcPr>
                </a:tc>
                <a:tc>
                  <a:txBody>
                    <a:bodyPr/>
                    <a:lstStyle/>
                    <a:p>
                      <a:pPr>
                        <a:defRPr sz="900" b="0">
                          <a:solidFill>
                            <a:srgbClr val="2D3748"/>
                          </a:solidFill>
                        </a:defRPr>
                      </a:pPr>
                      <a:r>
                        <a:t>Leadership, AI governance</a:t>
                      </a:r>
                    </a:p>
                  </a:txBody>
                  <a:tcPr anchor="ctr">
                    <a:solidFill>
                      <a:srgbClr val="FFFFFF"/>
                    </a:solidFill>
                  </a:tcPr>
                </a:tc>
              </a:tr>
              <a:tr h="617220">
                <a:tc>
                  <a:txBody>
                    <a:bodyPr/>
                    <a:lstStyle/>
                    <a:p>
                      <a:pPr>
                        <a:defRPr sz="900" b="0">
                          <a:solidFill>
                            <a:srgbClr val="2D3748"/>
                          </a:solidFill>
                        </a:defRPr>
                      </a:pPr>
                      <a:r>
                        <a:t>AI Governance Manager</a:t>
                      </a:r>
                    </a:p>
                  </a:txBody>
                  <a:tcPr anchor="ctr">
                    <a:solidFill>
                      <a:srgbClr val="E8EDF2"/>
                    </a:solidFill>
                  </a:tcPr>
                </a:tc>
                <a:tc>
                  <a:txBody>
                    <a:bodyPr/>
                    <a:lstStyle/>
                    <a:p>
                      <a:pPr>
                        <a:defRPr sz="900" b="0">
                          <a:solidFill>
                            <a:srgbClr val="2D3748"/>
                          </a:solidFill>
                        </a:defRPr>
                      </a:pPr>
                      <a:r>
                        <a:t>Policy, AI inventory, KPI dashboard, compliance</a:t>
                      </a:r>
                    </a:p>
                  </a:txBody>
                  <a:tcPr anchor="ctr">
                    <a:solidFill>
                      <a:srgbClr val="E8EDF2"/>
                    </a:solidFill>
                  </a:tcPr>
                </a:tc>
                <a:tc>
                  <a:txBody>
                    <a:bodyPr/>
                    <a:lstStyle/>
                    <a:p>
                      <a:pPr>
                        <a:defRPr sz="900" b="0">
                          <a:solidFill>
                            <a:srgbClr val="2D3748"/>
                          </a:solidFill>
                        </a:defRPr>
                      </a:pPr>
                      <a:r>
                        <a:t>Risk management, NIST AI RMF</a:t>
                      </a:r>
                    </a:p>
                  </a:txBody>
                  <a:tcPr anchor="ctr">
                    <a:solidFill>
                      <a:srgbClr val="E8EDF2"/>
                    </a:solidFill>
                  </a:tcPr>
                </a:tc>
              </a:tr>
              <a:tr h="617220">
                <a:tc>
                  <a:txBody>
                    <a:bodyPr/>
                    <a:lstStyle/>
                    <a:p>
                      <a:pPr>
                        <a:defRPr sz="900" b="0">
                          <a:solidFill>
                            <a:srgbClr val="2D3748"/>
                          </a:solidFill>
                        </a:defRPr>
                      </a:pPr>
                      <a:r>
                        <a:t>AI Ethics Officer</a:t>
                      </a:r>
                    </a:p>
                  </a:txBody>
                  <a:tcPr anchor="ctr">
                    <a:solidFill>
                      <a:srgbClr val="FFFFFF"/>
                    </a:solidFill>
                  </a:tcPr>
                </a:tc>
                <a:tc>
                  <a:txBody>
                    <a:bodyPr/>
                    <a:lstStyle/>
                    <a:p>
                      <a:pPr>
                        <a:defRPr sz="900" b="0">
                          <a:solidFill>
                            <a:srgbClr val="2D3748"/>
                          </a:solidFill>
                        </a:defRPr>
                      </a:pPr>
                      <a:r>
                        <a:t>Bias oversight, ethical gate reviews, stakeholder analysis</a:t>
                      </a:r>
                    </a:p>
                  </a:txBody>
                  <a:tcPr anchor="ctr">
                    <a:solidFill>
                      <a:srgbClr val="FFFFFF"/>
                    </a:solidFill>
                  </a:tcPr>
                </a:tc>
                <a:tc>
                  <a:txBody>
                    <a:bodyPr/>
                    <a:lstStyle/>
                    <a:p>
                      <a:pPr>
                        <a:defRPr sz="900" b="0">
                          <a:solidFill>
                            <a:srgbClr val="2D3748"/>
                          </a:solidFill>
                        </a:defRPr>
                      </a:pPr>
                      <a:r>
                        <a:t>Ethics, fairness, Markkula ITEC</a:t>
                      </a:r>
                    </a:p>
                  </a:txBody>
                  <a:tcPr anchor="ctr">
                    <a:solidFill>
                      <a:srgbClr val="FFFFFF"/>
                    </a:solidFill>
                  </a:tcPr>
                </a:tc>
              </a:tr>
              <a:tr h="617220">
                <a:tc>
                  <a:txBody>
                    <a:bodyPr/>
                    <a:lstStyle/>
                    <a:p>
                      <a:pPr>
                        <a:defRPr sz="900" b="0">
                          <a:solidFill>
                            <a:srgbClr val="2D3748"/>
                          </a:solidFill>
                        </a:defRPr>
                      </a:pPr>
                      <a:r>
                        <a:t>AI Security Architect</a:t>
                      </a:r>
                    </a:p>
                  </a:txBody>
                  <a:tcPr anchor="ctr">
                    <a:solidFill>
                      <a:srgbClr val="E8EDF2"/>
                    </a:solidFill>
                  </a:tcPr>
                </a:tc>
                <a:tc>
                  <a:txBody>
                    <a:bodyPr/>
                    <a:lstStyle/>
                    <a:p>
                      <a:pPr>
                        <a:defRPr sz="900" b="0">
                          <a:solidFill>
                            <a:srgbClr val="2D3748"/>
                          </a:solidFill>
                        </a:defRPr>
                      </a:pPr>
                      <a:r>
                        <a:t>Adversarial testing, secure architecture, red-team</a:t>
                      </a:r>
                    </a:p>
                  </a:txBody>
                  <a:tcPr anchor="ctr">
                    <a:solidFill>
                      <a:srgbClr val="E8EDF2"/>
                    </a:solidFill>
                  </a:tcPr>
                </a:tc>
                <a:tc>
                  <a:txBody>
                    <a:bodyPr/>
                    <a:lstStyle/>
                    <a:p>
                      <a:pPr>
                        <a:defRPr sz="900" b="0">
                          <a:solidFill>
                            <a:srgbClr val="2D3748"/>
                          </a:solidFill>
                        </a:defRPr>
                      </a:pPr>
                      <a:r>
                        <a:t>Cybersecurity, ML security</a:t>
                      </a:r>
                    </a:p>
                  </a:txBody>
                  <a:tcPr anchor="ctr">
                    <a:solidFill>
                      <a:srgbClr val="E8EDF2"/>
                    </a:solidFill>
                  </a:tcPr>
                </a:tc>
              </a:tr>
              <a:tr h="617220">
                <a:tc>
                  <a:txBody>
                    <a:bodyPr/>
                    <a:lstStyle/>
                    <a:p>
                      <a:pPr>
                        <a:defRPr sz="900" b="0">
                          <a:solidFill>
                            <a:srgbClr val="2D3748"/>
                          </a:solidFill>
                        </a:defRPr>
                      </a:pPr>
                      <a:r>
                        <a:t>AI/ML Lead Engineer</a:t>
                      </a:r>
                    </a:p>
                  </a:txBody>
                  <a:tcPr anchor="ctr">
                    <a:solidFill>
                      <a:srgbClr val="FFFFFF"/>
                    </a:solidFill>
                  </a:tcPr>
                </a:tc>
                <a:tc>
                  <a:txBody>
                    <a:bodyPr/>
                    <a:lstStyle/>
                    <a:p>
                      <a:pPr>
                        <a:defRPr sz="900" b="0">
                          <a:solidFill>
                            <a:srgbClr val="2D3748"/>
                          </a:solidFill>
                        </a:defRPr>
                      </a:pPr>
                      <a:r>
                        <a:t>Model development, versioning, retraining pipelines</a:t>
                      </a:r>
                    </a:p>
                  </a:txBody>
                  <a:tcPr anchor="ctr">
                    <a:solidFill>
                      <a:srgbClr val="FFFFFF"/>
                    </a:solidFill>
                  </a:tcPr>
                </a:tc>
                <a:tc>
                  <a:txBody>
                    <a:bodyPr/>
                    <a:lstStyle/>
                    <a:p>
                      <a:pPr>
                        <a:defRPr sz="900" b="0">
                          <a:solidFill>
                            <a:srgbClr val="2D3748"/>
                          </a:solidFill>
                        </a:defRPr>
                      </a:pPr>
                      <a:r>
                        <a:t>ML, Python, MLOps</a:t>
                      </a:r>
                    </a:p>
                  </a:txBody>
                  <a:tcPr anchor="ctr">
                    <a:solidFill>
                      <a:srgbClr val="FFFFFF"/>
                    </a:solidFill>
                  </a:tcPr>
                </a:tc>
              </a:tr>
              <a:tr h="617220">
                <a:tc>
                  <a:txBody>
                    <a:bodyPr/>
                    <a:lstStyle/>
                    <a:p>
                      <a:pPr>
                        <a:defRPr sz="900" b="0">
                          <a:solidFill>
                            <a:srgbClr val="2D3748"/>
                          </a:solidFill>
                        </a:defRPr>
                      </a:pPr>
                      <a:r>
                        <a:t>AI Risk &amp; Compliance Analyst</a:t>
                      </a:r>
                    </a:p>
                  </a:txBody>
                  <a:tcPr anchor="ctr">
                    <a:solidFill>
                      <a:srgbClr val="E8EDF2"/>
                    </a:solidFill>
                  </a:tcPr>
                </a:tc>
                <a:tc>
                  <a:txBody>
                    <a:bodyPr/>
                    <a:lstStyle/>
                    <a:p>
                      <a:pPr>
                        <a:defRPr sz="900" b="0">
                          <a:solidFill>
                            <a:srgbClr val="2D3748"/>
                          </a:solidFill>
                        </a:defRPr>
                      </a:pPr>
                      <a:r>
                        <a:t>Audits, DPIA support, regulatory tracking</a:t>
                      </a:r>
                    </a:p>
                  </a:txBody>
                  <a:tcPr anchor="ctr">
                    <a:solidFill>
                      <a:srgbClr val="E8EDF2"/>
                    </a:solidFill>
                  </a:tcPr>
                </a:tc>
                <a:tc>
                  <a:txBody>
                    <a:bodyPr/>
                    <a:lstStyle/>
                    <a:p>
                      <a:pPr>
                        <a:defRPr sz="900" b="0">
                          <a:solidFill>
                            <a:srgbClr val="2D3748"/>
                          </a:solidFill>
                        </a:defRPr>
                      </a:pPr>
                      <a:r>
                        <a:t>GDPR, NIST Privacy, EO 14117</a:t>
                      </a:r>
                    </a:p>
                  </a:txBody>
                  <a:tcPr anchor="ctr">
                    <a:solidFill>
                      <a:srgbClr val="E8EDF2"/>
                    </a:solidFill>
                  </a:tcPr>
                </a:tc>
              </a:tr>
              <a:tr h="617220">
                <a:tc>
                  <a:txBody>
                    <a:bodyPr/>
                    <a:lstStyle/>
                    <a:p>
                      <a:pPr>
                        <a:defRPr sz="900" b="0">
                          <a:solidFill>
                            <a:srgbClr val="2D3748"/>
                          </a:solidFill>
                        </a:defRPr>
                      </a:pPr>
                      <a:r>
                        <a:t>SOC AI Product Manager</a:t>
                      </a:r>
                    </a:p>
                  </a:txBody>
                  <a:tcPr anchor="ctr">
                    <a:solidFill>
                      <a:srgbClr val="FFFFFF"/>
                    </a:solidFill>
                  </a:tcPr>
                </a:tc>
                <a:tc>
                  <a:txBody>
                    <a:bodyPr/>
                    <a:lstStyle/>
                    <a:p>
                      <a:pPr>
                        <a:defRPr sz="900" b="0">
                          <a:solidFill>
                            <a:srgbClr val="2D3748"/>
                          </a:solidFill>
                        </a:defRPr>
                      </a:pPr>
                      <a:r>
                        <a:t>Use case lifecycle, customer disclosure, training rollout</a:t>
                      </a:r>
                    </a:p>
                  </a:txBody>
                  <a:tcPr anchor="ctr">
                    <a:solidFill>
                      <a:srgbClr val="FFFFFF"/>
                    </a:solidFill>
                  </a:tcPr>
                </a:tc>
                <a:tc>
                  <a:txBody>
                    <a:bodyPr/>
                    <a:lstStyle/>
                    <a:p>
                      <a:pPr>
                        <a:defRPr sz="900" b="0">
                          <a:solidFill>
                            <a:srgbClr val="2D3748"/>
                          </a:solidFill>
                        </a:defRPr>
                      </a:pPr>
                      <a:r>
                        <a:t>Product mgmt, SOC operations</a:t>
                      </a:r>
                    </a:p>
                  </a:txBody>
                  <a:tcPr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12-Month RAI Accountability Timeline</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Phased stand-up — Assignment 1.4</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graphicFrame>
        <p:nvGraphicFramePr>
          <p:cNvPr id="6" name="Table 5"/>
          <p:cNvGraphicFramePr>
            <a:graphicFrameLocks noGrp="1"/>
          </p:cNvGraphicFramePr>
          <p:nvPr/>
        </p:nvGraphicFramePr>
        <p:xfrm>
          <a:off x="411480" y="1234440"/>
          <a:ext cx="11338560" cy="4937760"/>
        </p:xfrm>
        <a:graphic>
          <a:graphicData uri="http://schemas.openxmlformats.org/drawingml/2006/table">
            <a:tbl>
              <a:tblPr firstRow="1" bandRow="1">
                <a:tableStyleId>{5C22544A-7EE6-4342-B048-85BDC9FD1C3A}</a:tableStyleId>
              </a:tblPr>
              <a:tblGrid>
                <a:gridCol w="3779520"/>
                <a:gridCol w="3779520"/>
                <a:gridCol w="3779520"/>
              </a:tblGrid>
              <a:tr h="411480">
                <a:tc>
                  <a:txBody>
                    <a:bodyPr/>
                    <a:lstStyle/>
                    <a:p>
                      <a:pPr>
                        <a:defRPr sz="800" b="1">
                          <a:solidFill>
                            <a:srgbClr val="FFFFFF"/>
                          </a:solidFill>
                        </a:defRPr>
                      </a:pPr>
                      <a:r>
                        <a:t>Month</a:t>
                      </a:r>
                    </a:p>
                  </a:txBody>
                  <a:tcPr anchor="ctr">
                    <a:solidFill>
                      <a:srgbClr val="007A87"/>
                    </a:solidFill>
                  </a:tcPr>
                </a:tc>
                <a:tc>
                  <a:txBody>
                    <a:bodyPr/>
                    <a:lstStyle/>
                    <a:p>
                      <a:pPr>
                        <a:defRPr sz="800" b="1">
                          <a:solidFill>
                            <a:srgbClr val="FFFFFF"/>
                          </a:solidFill>
                        </a:defRPr>
                      </a:pPr>
                      <a:r>
                        <a:t>Milestone</a:t>
                      </a:r>
                    </a:p>
                  </a:txBody>
                  <a:tcPr anchor="ctr">
                    <a:solidFill>
                      <a:srgbClr val="007A87"/>
                    </a:solidFill>
                  </a:tcPr>
                </a:tc>
                <a:tc>
                  <a:txBody>
                    <a:bodyPr/>
                    <a:lstStyle/>
                    <a:p>
                      <a:pPr>
                        <a:defRPr sz="800" b="1">
                          <a:solidFill>
                            <a:srgbClr val="FFFFFF"/>
                          </a:solidFill>
                        </a:defRPr>
                      </a:pPr>
                      <a:r>
                        <a:t>Deliverable</a:t>
                      </a:r>
                    </a:p>
                  </a:txBody>
                  <a:tcPr anchor="ctr">
                    <a:solidFill>
                      <a:srgbClr val="007A87"/>
                    </a:solidFill>
                  </a:tcPr>
                </a:tc>
              </a:tr>
              <a:tr h="411480">
                <a:tc>
                  <a:txBody>
                    <a:bodyPr/>
                    <a:lstStyle/>
                    <a:p>
                      <a:pPr>
                        <a:defRPr sz="800" b="0">
                          <a:solidFill>
                            <a:srgbClr val="2D3748"/>
                          </a:solidFill>
                        </a:defRPr>
                      </a:pPr>
                      <a:r>
                        <a:t>1–2</a:t>
                      </a:r>
                    </a:p>
                  </a:txBody>
                  <a:tcPr anchor="ctr">
                    <a:solidFill>
                      <a:srgbClr val="FFFFFF"/>
                    </a:solidFill>
                  </a:tcPr>
                </a:tc>
                <a:tc>
                  <a:txBody>
                    <a:bodyPr/>
                    <a:lstStyle/>
                    <a:p>
                      <a:pPr>
                        <a:defRPr sz="800" b="0">
                          <a:solidFill>
                            <a:srgbClr val="2D3748"/>
                          </a:solidFill>
                        </a:defRPr>
                      </a:pPr>
                      <a:r>
                        <a:t>Define AI policies &amp; ethics statement</a:t>
                      </a:r>
                    </a:p>
                  </a:txBody>
                  <a:tcPr anchor="ctr">
                    <a:solidFill>
                      <a:srgbClr val="FFFFFF"/>
                    </a:solidFill>
                  </a:tcPr>
                </a:tc>
                <a:tc>
                  <a:txBody>
                    <a:bodyPr/>
                    <a:lstStyle/>
                    <a:p>
                      <a:pPr>
                        <a:defRPr sz="800" b="0">
                          <a:solidFill>
                            <a:srgbClr val="2D3748"/>
                          </a:solidFill>
                        </a:defRPr>
                      </a:pPr>
                      <a:r>
                        <a:t>Published RAI policy; risk tier definitions</a:t>
                      </a:r>
                    </a:p>
                  </a:txBody>
                  <a:tcPr anchor="ctr">
                    <a:solidFill>
                      <a:srgbClr val="FFFFFF"/>
                    </a:solidFill>
                  </a:tcPr>
                </a:tc>
              </a:tr>
              <a:tr h="411480">
                <a:tc>
                  <a:txBody>
                    <a:bodyPr/>
                    <a:lstStyle/>
                    <a:p>
                      <a:pPr>
                        <a:defRPr sz="800" b="0">
                          <a:solidFill>
                            <a:srgbClr val="2D3748"/>
                          </a:solidFill>
                        </a:defRPr>
                      </a:pPr>
                      <a:r>
                        <a:t>3</a:t>
                      </a:r>
                    </a:p>
                  </a:txBody>
                  <a:tcPr anchor="ctr">
                    <a:solidFill>
                      <a:srgbClr val="E8EDF2"/>
                    </a:solidFill>
                  </a:tcPr>
                </a:tc>
                <a:tc>
                  <a:txBody>
                    <a:bodyPr/>
                    <a:lstStyle/>
                    <a:p>
                      <a:pPr>
                        <a:defRPr sz="800" b="0">
                          <a:solidFill>
                            <a:srgbClr val="2D3748"/>
                          </a:solidFill>
                        </a:defRPr>
                      </a:pPr>
                      <a:r>
                        <a:t>Hire AI Governance Manager</a:t>
                      </a:r>
                    </a:p>
                  </a:txBody>
                  <a:tcPr anchor="ctr">
                    <a:solidFill>
                      <a:srgbClr val="E8EDF2"/>
                    </a:solidFill>
                  </a:tcPr>
                </a:tc>
                <a:tc>
                  <a:txBody>
                    <a:bodyPr/>
                    <a:lstStyle/>
                    <a:p>
                      <a:pPr>
                        <a:defRPr sz="800" b="0">
                          <a:solidFill>
                            <a:srgbClr val="2D3748"/>
                          </a:solidFill>
                        </a:defRPr>
                      </a:pPr>
                      <a:r>
                        <a:t>Role filled; reporting line to CTO established</a:t>
                      </a:r>
                    </a:p>
                  </a:txBody>
                  <a:tcPr anchor="ctr">
                    <a:solidFill>
                      <a:srgbClr val="E8EDF2"/>
                    </a:solidFill>
                  </a:tcPr>
                </a:tc>
              </a:tr>
              <a:tr h="411480">
                <a:tc>
                  <a:txBody>
                    <a:bodyPr/>
                    <a:lstStyle/>
                    <a:p>
                      <a:pPr>
                        <a:defRPr sz="800" b="0">
                          <a:solidFill>
                            <a:srgbClr val="2D3748"/>
                          </a:solidFill>
                        </a:defRPr>
                      </a:pPr>
                      <a:r>
                        <a:t>4</a:t>
                      </a:r>
                    </a:p>
                  </a:txBody>
                  <a:tcPr anchor="ctr">
                    <a:solidFill>
                      <a:srgbClr val="FFFFFF"/>
                    </a:solidFill>
                  </a:tcPr>
                </a:tc>
                <a:tc>
                  <a:txBody>
                    <a:bodyPr/>
                    <a:lstStyle/>
                    <a:p>
                      <a:pPr>
                        <a:defRPr sz="800" b="0">
                          <a:solidFill>
                            <a:srgbClr val="2D3748"/>
                          </a:solidFill>
                        </a:defRPr>
                      </a:pPr>
                      <a:r>
                        <a:t>Establish AI Review Board</a:t>
                      </a:r>
                    </a:p>
                  </a:txBody>
                  <a:tcPr anchor="ctr">
                    <a:solidFill>
                      <a:srgbClr val="FFFFFF"/>
                    </a:solidFill>
                  </a:tcPr>
                </a:tc>
                <a:tc>
                  <a:txBody>
                    <a:bodyPr/>
                    <a:lstStyle/>
                    <a:p>
                      <a:pPr>
                        <a:defRPr sz="800" b="0">
                          <a:solidFill>
                            <a:srgbClr val="2D3748"/>
                          </a:solidFill>
                        </a:defRPr>
                      </a:pPr>
                      <a:r>
                        <a:t>Charter, membership, meeting cadence (monthly → quarterly)</a:t>
                      </a:r>
                    </a:p>
                  </a:txBody>
                  <a:tcPr anchor="ctr">
                    <a:solidFill>
                      <a:srgbClr val="FFFFFF"/>
                    </a:solidFill>
                  </a:tcPr>
                </a:tc>
              </a:tr>
              <a:tr h="411480">
                <a:tc>
                  <a:txBody>
                    <a:bodyPr/>
                    <a:lstStyle/>
                    <a:p>
                      <a:pPr>
                        <a:defRPr sz="800" b="0">
                          <a:solidFill>
                            <a:srgbClr val="2D3748"/>
                          </a:solidFill>
                        </a:defRPr>
                      </a:pPr>
                      <a:r>
                        <a:t>5</a:t>
                      </a:r>
                    </a:p>
                  </a:txBody>
                  <a:tcPr anchor="ctr">
                    <a:solidFill>
                      <a:srgbClr val="E8EDF2"/>
                    </a:solidFill>
                  </a:tcPr>
                </a:tc>
                <a:tc>
                  <a:txBody>
                    <a:bodyPr/>
                    <a:lstStyle/>
                    <a:p>
                      <a:pPr>
                        <a:defRPr sz="800" b="0">
                          <a:solidFill>
                            <a:srgbClr val="2D3748"/>
                          </a:solidFill>
                        </a:defRPr>
                      </a:pPr>
                      <a:r>
                        <a:t>Deploy risk assessment process</a:t>
                      </a:r>
                    </a:p>
                  </a:txBody>
                  <a:tcPr anchor="ctr">
                    <a:solidFill>
                      <a:srgbClr val="E8EDF2"/>
                    </a:solidFill>
                  </a:tcPr>
                </a:tc>
                <a:tc>
                  <a:txBody>
                    <a:bodyPr/>
                    <a:lstStyle/>
                    <a:p>
                      <a:pPr>
                        <a:defRPr sz="800" b="0">
                          <a:solidFill>
                            <a:srgbClr val="2D3748"/>
                          </a:solidFill>
                        </a:defRPr>
                      </a:pPr>
                      <a:r>
                        <a:t>Use case intake form; pre-mortem template</a:t>
                      </a:r>
                    </a:p>
                  </a:txBody>
                  <a:tcPr anchor="ctr">
                    <a:solidFill>
                      <a:srgbClr val="E8EDF2"/>
                    </a:solidFill>
                  </a:tcPr>
                </a:tc>
              </a:tr>
              <a:tr h="411480">
                <a:tc>
                  <a:txBody>
                    <a:bodyPr/>
                    <a:lstStyle/>
                    <a:p>
                      <a:pPr>
                        <a:defRPr sz="800" b="0">
                          <a:solidFill>
                            <a:srgbClr val="2D3748"/>
                          </a:solidFill>
                        </a:defRPr>
                      </a:pPr>
                      <a:r>
                        <a:t>6</a:t>
                      </a:r>
                    </a:p>
                  </a:txBody>
                  <a:tcPr anchor="ctr">
                    <a:solidFill>
                      <a:srgbClr val="FFFFFF"/>
                    </a:solidFill>
                  </a:tcPr>
                </a:tc>
                <a:tc>
                  <a:txBody>
                    <a:bodyPr/>
                    <a:lstStyle/>
                    <a:p>
                      <a:pPr>
                        <a:defRPr sz="800" b="0">
                          <a:solidFill>
                            <a:srgbClr val="2D3748"/>
                          </a:solidFill>
                        </a:defRPr>
                      </a:pPr>
                      <a:r>
                        <a:t>Launch ethics review workflow</a:t>
                      </a:r>
                    </a:p>
                  </a:txBody>
                  <a:tcPr anchor="ctr">
                    <a:solidFill>
                      <a:srgbClr val="FFFFFF"/>
                    </a:solidFill>
                  </a:tcPr>
                </a:tc>
                <a:tc>
                  <a:txBody>
                    <a:bodyPr/>
                    <a:lstStyle/>
                    <a:p>
                      <a:pPr>
                        <a:defRPr sz="800" b="0">
                          <a:solidFill>
                            <a:srgbClr val="2D3748"/>
                          </a:solidFill>
                        </a:defRPr>
                      </a:pPr>
                      <a:r>
                        <a:t>Markkula ITEC integrated into design gates</a:t>
                      </a:r>
                    </a:p>
                  </a:txBody>
                  <a:tcPr anchor="ctr">
                    <a:solidFill>
                      <a:srgbClr val="FFFFFF"/>
                    </a:solidFill>
                  </a:tcPr>
                </a:tc>
              </a:tr>
              <a:tr h="411480">
                <a:tc>
                  <a:txBody>
                    <a:bodyPr/>
                    <a:lstStyle/>
                    <a:p>
                      <a:pPr>
                        <a:defRPr sz="800" b="0">
                          <a:solidFill>
                            <a:srgbClr val="2D3748"/>
                          </a:solidFill>
                        </a:defRPr>
                      </a:pPr>
                      <a:r>
                        <a:t>7</a:t>
                      </a:r>
                    </a:p>
                  </a:txBody>
                  <a:tcPr anchor="ctr">
                    <a:solidFill>
                      <a:srgbClr val="E8EDF2"/>
                    </a:solidFill>
                  </a:tcPr>
                </a:tc>
                <a:tc>
                  <a:txBody>
                    <a:bodyPr/>
                    <a:lstStyle/>
                    <a:p>
                      <a:pPr>
                        <a:defRPr sz="800" b="0">
                          <a:solidFill>
                            <a:srgbClr val="2D3748"/>
                          </a:solidFill>
                        </a:defRPr>
                      </a:pPr>
                      <a:r>
                        <a:t>Vendor AI assessment process live</a:t>
                      </a:r>
                    </a:p>
                  </a:txBody>
                  <a:tcPr anchor="ctr">
                    <a:solidFill>
                      <a:srgbClr val="E8EDF2"/>
                    </a:solidFill>
                  </a:tcPr>
                </a:tc>
                <a:tc>
                  <a:txBody>
                    <a:bodyPr/>
                    <a:lstStyle/>
                    <a:p>
                      <a:pPr>
                        <a:defRPr sz="800" b="0">
                          <a:solidFill>
                            <a:srgbClr val="2D3748"/>
                          </a:solidFill>
                        </a:defRPr>
                      </a:pPr>
                      <a:r>
                        <a:t>Procurement checklist; EO 14117 screening</a:t>
                      </a:r>
                    </a:p>
                  </a:txBody>
                  <a:tcPr anchor="ctr">
                    <a:solidFill>
                      <a:srgbClr val="E8EDF2"/>
                    </a:solidFill>
                  </a:tcPr>
                </a:tc>
              </a:tr>
              <a:tr h="411480">
                <a:tc>
                  <a:txBody>
                    <a:bodyPr/>
                    <a:lstStyle/>
                    <a:p>
                      <a:pPr>
                        <a:defRPr sz="800" b="0">
                          <a:solidFill>
                            <a:srgbClr val="2D3748"/>
                          </a:solidFill>
                        </a:defRPr>
                      </a:pPr>
                      <a:r>
                        <a:t>8</a:t>
                      </a:r>
                    </a:p>
                  </a:txBody>
                  <a:tcPr anchor="ctr">
                    <a:solidFill>
                      <a:srgbClr val="FFFFFF"/>
                    </a:solidFill>
                  </a:tcPr>
                </a:tc>
                <a:tc>
                  <a:txBody>
                    <a:bodyPr/>
                    <a:lstStyle/>
                    <a:p>
                      <a:pPr>
                        <a:defRPr sz="800" b="0">
                          <a:solidFill>
                            <a:srgbClr val="2D3748"/>
                          </a:solidFill>
                        </a:defRPr>
                      </a:pPr>
                      <a:r>
                        <a:t>Complete AI system inventory</a:t>
                      </a:r>
                    </a:p>
                  </a:txBody>
                  <a:tcPr anchor="ctr">
                    <a:solidFill>
                      <a:srgbClr val="FFFFFF"/>
                    </a:solidFill>
                  </a:tcPr>
                </a:tc>
                <a:tc>
                  <a:txBody>
                    <a:bodyPr/>
                    <a:lstStyle/>
                    <a:p>
                      <a:pPr>
                        <a:defRPr sz="800" b="0">
                          <a:solidFill>
                            <a:srgbClr val="2D3748"/>
                          </a:solidFill>
                        </a:defRPr>
                      </a:pPr>
                      <a:r>
                        <a:t>All production &amp; pilot AI catalogued with risk tier</a:t>
                      </a:r>
                    </a:p>
                  </a:txBody>
                  <a:tcPr anchor="ctr">
                    <a:solidFill>
                      <a:srgbClr val="FFFFFF"/>
                    </a:solidFill>
                  </a:tcPr>
                </a:tc>
              </a:tr>
              <a:tr h="411480">
                <a:tc>
                  <a:txBody>
                    <a:bodyPr/>
                    <a:lstStyle/>
                    <a:p>
                      <a:pPr>
                        <a:defRPr sz="800" b="0">
                          <a:solidFill>
                            <a:srgbClr val="2D3748"/>
                          </a:solidFill>
                        </a:defRPr>
                      </a:pPr>
                      <a:r>
                        <a:t>9</a:t>
                      </a:r>
                    </a:p>
                  </a:txBody>
                  <a:tcPr anchor="ctr">
                    <a:solidFill>
                      <a:srgbClr val="E8EDF2"/>
                    </a:solidFill>
                  </a:tcPr>
                </a:tc>
                <a:tc>
                  <a:txBody>
                    <a:bodyPr/>
                    <a:lstStyle/>
                    <a:p>
                      <a:pPr>
                        <a:defRPr sz="800" b="0">
                          <a:solidFill>
                            <a:srgbClr val="2D3748"/>
                          </a:solidFill>
                        </a:defRPr>
                      </a:pPr>
                      <a:r>
                        <a:t>KPI dashboard launch</a:t>
                      </a:r>
                    </a:p>
                  </a:txBody>
                  <a:tcPr anchor="ctr">
                    <a:solidFill>
                      <a:srgbClr val="E8EDF2"/>
                    </a:solidFill>
                  </a:tcPr>
                </a:tc>
                <a:tc>
                  <a:txBody>
                    <a:bodyPr/>
                    <a:lstStyle/>
                    <a:p>
                      <a:pPr>
                        <a:defRPr sz="800" b="0">
                          <a:solidFill>
                            <a:srgbClr val="2D3748"/>
                          </a:solidFill>
                        </a:defRPr>
                      </a:pPr>
                      <a:r>
                        <a:t>Real-time metrics from Assignment 1.3 targets</a:t>
                      </a:r>
                    </a:p>
                  </a:txBody>
                  <a:tcPr anchor="ctr">
                    <a:solidFill>
                      <a:srgbClr val="E8EDF2"/>
                    </a:solidFill>
                  </a:tcPr>
                </a:tc>
              </a:tr>
              <a:tr h="411480">
                <a:tc>
                  <a:txBody>
                    <a:bodyPr/>
                    <a:lstStyle/>
                    <a:p>
                      <a:pPr>
                        <a:defRPr sz="800" b="0">
                          <a:solidFill>
                            <a:srgbClr val="2D3748"/>
                          </a:solidFill>
                        </a:defRPr>
                      </a:pPr>
                      <a:r>
                        <a:t>10</a:t>
                      </a:r>
                    </a:p>
                  </a:txBody>
                  <a:tcPr anchor="ctr">
                    <a:solidFill>
                      <a:srgbClr val="FFFFFF"/>
                    </a:solidFill>
                  </a:tcPr>
                </a:tc>
                <a:tc>
                  <a:txBody>
                    <a:bodyPr/>
                    <a:lstStyle/>
                    <a:p>
                      <a:pPr>
                        <a:defRPr sz="800" b="0">
                          <a:solidFill>
                            <a:srgbClr val="2D3748"/>
                          </a:solidFill>
                        </a:defRPr>
                      </a:pPr>
                      <a:r>
                        <a:t>Company-wide RAI training</a:t>
                      </a:r>
                    </a:p>
                  </a:txBody>
                  <a:tcPr anchor="ctr">
                    <a:solidFill>
                      <a:srgbClr val="FFFFFF"/>
                    </a:solidFill>
                  </a:tcPr>
                </a:tc>
                <a:tc>
                  <a:txBody>
                    <a:bodyPr/>
                    <a:lstStyle/>
                    <a:p>
                      <a:pPr>
                        <a:defRPr sz="800" b="0">
                          <a:solidFill>
                            <a:srgbClr val="2D3748"/>
                          </a:solidFill>
                        </a:defRPr>
                      </a:pPr>
                      <a:r>
                        <a:t>Role-based modules (see training chart)</a:t>
                      </a:r>
                    </a:p>
                  </a:txBody>
                  <a:tcPr anchor="ctr">
                    <a:solidFill>
                      <a:srgbClr val="FFFFFF"/>
                    </a:solidFill>
                  </a:tcPr>
                </a:tc>
              </a:tr>
              <a:tr h="411480">
                <a:tc>
                  <a:txBody>
                    <a:bodyPr/>
                    <a:lstStyle/>
                    <a:p>
                      <a:pPr>
                        <a:defRPr sz="800" b="0">
                          <a:solidFill>
                            <a:srgbClr val="2D3748"/>
                          </a:solidFill>
                        </a:defRPr>
                      </a:pPr>
                      <a:r>
                        <a:t>11</a:t>
                      </a:r>
                    </a:p>
                  </a:txBody>
                  <a:tcPr anchor="ctr">
                    <a:solidFill>
                      <a:srgbClr val="E8EDF2"/>
                    </a:solidFill>
                  </a:tcPr>
                </a:tc>
                <a:tc>
                  <a:txBody>
                    <a:bodyPr/>
                    <a:lstStyle/>
                    <a:p>
                      <a:pPr>
                        <a:defRPr sz="800" b="0">
                          <a:solidFill>
                            <a:srgbClr val="2D3748"/>
                          </a:solidFill>
                        </a:defRPr>
                      </a:pPr>
                      <a:r>
                        <a:t>Internal RAI audit</a:t>
                      </a:r>
                    </a:p>
                  </a:txBody>
                  <a:tcPr anchor="ctr">
                    <a:solidFill>
                      <a:srgbClr val="E8EDF2"/>
                    </a:solidFill>
                  </a:tcPr>
                </a:tc>
                <a:tc>
                  <a:txBody>
                    <a:bodyPr/>
                    <a:lstStyle/>
                    <a:p>
                      <a:pPr>
                        <a:defRPr sz="800" b="0">
                          <a:solidFill>
                            <a:srgbClr val="2D3748"/>
                          </a:solidFill>
                        </a:defRPr>
                      </a:pPr>
                      <a:r>
                        <a:t>Gap analysis against NIST AI RMF Govern function</a:t>
                      </a:r>
                    </a:p>
                  </a:txBody>
                  <a:tcPr anchor="ctr">
                    <a:solidFill>
                      <a:srgbClr val="E8EDF2"/>
                    </a:solidFill>
                  </a:tcPr>
                </a:tc>
              </a:tr>
              <a:tr h="411480">
                <a:tc>
                  <a:txBody>
                    <a:bodyPr/>
                    <a:lstStyle/>
                    <a:p>
                      <a:pPr>
                        <a:defRPr sz="800" b="0">
                          <a:solidFill>
                            <a:srgbClr val="2D3748"/>
                          </a:solidFill>
                        </a:defRPr>
                      </a:pPr>
                      <a:r>
                        <a:t>12</a:t>
                      </a:r>
                    </a:p>
                  </a:txBody>
                  <a:tcPr anchor="ctr">
                    <a:solidFill>
                      <a:srgbClr val="FFFFFF"/>
                    </a:solidFill>
                  </a:tcPr>
                </a:tc>
                <a:tc>
                  <a:txBody>
                    <a:bodyPr/>
                    <a:lstStyle/>
                    <a:p>
                      <a:pPr>
                        <a:defRPr sz="800" b="0">
                          <a:solidFill>
                            <a:srgbClr val="2D3748"/>
                          </a:solidFill>
                        </a:defRPr>
                      </a:pPr>
                      <a:r>
                        <a:t>Governance maturity review</a:t>
                      </a:r>
                    </a:p>
                  </a:txBody>
                  <a:tcPr anchor="ctr">
                    <a:solidFill>
                      <a:srgbClr val="FFFFFF"/>
                    </a:solidFill>
                  </a:tcPr>
                </a:tc>
                <a:tc>
                  <a:txBody>
                    <a:bodyPr/>
                    <a:lstStyle/>
                    <a:p>
                      <a:pPr>
                        <a:defRPr sz="800" b="0">
                          <a:solidFill>
                            <a:srgbClr val="2D3748"/>
                          </a:solidFill>
                        </a:defRPr>
                      </a:pPr>
                      <a:r>
                        <a:t>Board report; year-2 roadmap; portfolio upload</a:t>
                      </a:r>
                    </a:p>
                  </a:txBody>
                  <a:tcPr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Employee RAI Training</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Role-based program — Assignments 5.3, 5.4, 6.4</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pic>
        <p:nvPicPr>
          <p:cNvPr id="6" name="Picture 5" descr="chart_training.png"/>
          <p:cNvPicPr>
            <a:picLocks noChangeAspect="1"/>
          </p:cNvPicPr>
          <p:nvPr/>
        </p:nvPicPr>
        <p:blipFill>
          <a:blip r:embed="rId2"/>
          <a:stretch>
            <a:fillRect/>
          </a:stretch>
        </p:blipFill>
        <p:spPr>
          <a:xfrm>
            <a:off x="320040" y="1115568"/>
            <a:ext cx="11521440" cy="6089904"/>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Effective RAI Metrics</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Assignment 1.3 targets + Assignment 1.4 KPI dashboard</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graphicFrame>
        <p:nvGraphicFramePr>
          <p:cNvPr id="6" name="Table 5"/>
          <p:cNvGraphicFramePr>
            <a:graphicFrameLocks noGrp="1"/>
          </p:cNvGraphicFramePr>
          <p:nvPr/>
        </p:nvGraphicFramePr>
        <p:xfrm>
          <a:off x="411480" y="1234440"/>
          <a:ext cx="11338560" cy="4937760"/>
        </p:xfrm>
        <a:graphic>
          <a:graphicData uri="http://schemas.openxmlformats.org/drawingml/2006/table">
            <a:tbl>
              <a:tblPr firstRow="1" bandRow="1">
                <a:tableStyleId>{5C22544A-7EE6-4342-B048-85BDC9FD1C3A}</a:tableStyleId>
              </a:tblPr>
              <a:tblGrid>
                <a:gridCol w="3779520"/>
                <a:gridCol w="3779520"/>
                <a:gridCol w="3779520"/>
              </a:tblGrid>
              <a:tr h="448887">
                <a:tc>
                  <a:txBody>
                    <a:bodyPr/>
                    <a:lstStyle/>
                    <a:p>
                      <a:pPr>
                        <a:defRPr sz="800" b="1">
                          <a:solidFill>
                            <a:srgbClr val="FFFFFF"/>
                          </a:solidFill>
                        </a:defRPr>
                      </a:pPr>
                      <a:r>
                        <a:t>Metric</a:t>
                      </a:r>
                    </a:p>
                  </a:txBody>
                  <a:tcPr anchor="ctr">
                    <a:solidFill>
                      <a:srgbClr val="007A87"/>
                    </a:solidFill>
                  </a:tcPr>
                </a:tc>
                <a:tc>
                  <a:txBody>
                    <a:bodyPr/>
                    <a:lstStyle/>
                    <a:p>
                      <a:pPr>
                        <a:defRPr sz="800" b="1">
                          <a:solidFill>
                            <a:srgbClr val="FFFFFF"/>
                          </a:solidFill>
                        </a:defRPr>
                      </a:pPr>
                      <a:r>
                        <a:t>Target</a:t>
                      </a:r>
                    </a:p>
                  </a:txBody>
                  <a:tcPr anchor="ctr">
                    <a:solidFill>
                      <a:srgbClr val="007A87"/>
                    </a:solidFill>
                  </a:tcPr>
                </a:tc>
                <a:tc>
                  <a:txBody>
                    <a:bodyPr/>
                    <a:lstStyle/>
                    <a:p>
                      <a:pPr>
                        <a:defRPr sz="800" b="1">
                          <a:solidFill>
                            <a:srgbClr val="FFFFFF"/>
                          </a:solidFill>
                        </a:defRPr>
                      </a:pPr>
                      <a:r>
                        <a:t>Measurement Method</a:t>
                      </a:r>
                    </a:p>
                  </a:txBody>
                  <a:tcPr anchor="ctr">
                    <a:solidFill>
                      <a:srgbClr val="007A87"/>
                    </a:solidFill>
                  </a:tcPr>
                </a:tc>
              </a:tr>
              <a:tr h="448887">
                <a:tc>
                  <a:txBody>
                    <a:bodyPr/>
                    <a:lstStyle/>
                    <a:p>
                      <a:pPr>
                        <a:defRPr sz="800" b="0">
                          <a:solidFill>
                            <a:srgbClr val="2D3748"/>
                          </a:solidFill>
                        </a:defRPr>
                      </a:pPr>
                      <a:r>
                        <a:t>Bias Testing Pass Rate</a:t>
                      </a:r>
                    </a:p>
                  </a:txBody>
                  <a:tcPr anchor="ctr">
                    <a:solidFill>
                      <a:srgbClr val="FFFFFF"/>
                    </a:solidFill>
                  </a:tcPr>
                </a:tc>
                <a:tc>
                  <a:txBody>
                    <a:bodyPr/>
                    <a:lstStyle/>
                    <a:p>
                      <a:pPr>
                        <a:defRPr sz="800" b="0">
                          <a:solidFill>
                            <a:srgbClr val="2D3748"/>
                          </a:solidFill>
                        </a:defRPr>
                      </a:pPr>
                      <a:r>
                        <a:t>&gt;95%</a:t>
                      </a:r>
                    </a:p>
                  </a:txBody>
                  <a:tcPr anchor="ctr">
                    <a:solidFill>
                      <a:srgbClr val="FFFFFF"/>
                    </a:solidFill>
                  </a:tcPr>
                </a:tc>
                <a:tc>
                  <a:txBody>
                    <a:bodyPr/>
                    <a:lstStyle/>
                    <a:p>
                      <a:pPr>
                        <a:defRPr sz="800" b="0">
                          <a:solidFill>
                            <a:srgbClr val="2D3748"/>
                          </a:solidFill>
                        </a:defRPr>
                      </a:pPr>
                      <a:r>
                        <a:t>Fairlearn subgroup audit per release</a:t>
                      </a:r>
                    </a:p>
                  </a:txBody>
                  <a:tcPr anchor="ctr">
                    <a:solidFill>
                      <a:srgbClr val="FFFFFF"/>
                    </a:solidFill>
                  </a:tcPr>
                </a:tc>
              </a:tr>
              <a:tr h="448887">
                <a:tc>
                  <a:txBody>
                    <a:bodyPr/>
                    <a:lstStyle/>
                    <a:p>
                      <a:pPr>
                        <a:defRPr sz="800" b="0">
                          <a:solidFill>
                            <a:srgbClr val="2D3748"/>
                          </a:solidFill>
                        </a:defRPr>
                      </a:pPr>
                      <a:r>
                        <a:t>False Positive Rate</a:t>
                      </a:r>
                    </a:p>
                  </a:txBody>
                  <a:tcPr anchor="ctr">
                    <a:solidFill>
                      <a:srgbClr val="E8EDF2"/>
                    </a:solidFill>
                  </a:tcPr>
                </a:tc>
                <a:tc>
                  <a:txBody>
                    <a:bodyPr/>
                    <a:lstStyle/>
                    <a:p>
                      <a:pPr>
                        <a:defRPr sz="800" b="0">
                          <a:solidFill>
                            <a:srgbClr val="2D3748"/>
                          </a:solidFill>
                        </a:defRPr>
                      </a:pPr>
                      <a:r>
                        <a:t>&lt;5%</a:t>
                      </a:r>
                    </a:p>
                  </a:txBody>
                  <a:tcPr anchor="ctr">
                    <a:solidFill>
                      <a:srgbClr val="E8EDF2"/>
                    </a:solidFill>
                  </a:tcPr>
                </a:tc>
                <a:tc>
                  <a:txBody>
                    <a:bodyPr/>
                    <a:lstStyle/>
                    <a:p>
                      <a:pPr>
                        <a:defRPr sz="800" b="0">
                          <a:solidFill>
                            <a:srgbClr val="2D3748"/>
                          </a:solidFill>
                        </a:defRPr>
                      </a:pPr>
                      <a:r>
                        <a:t>Production telemetry vs. labeled holdout set</a:t>
                      </a:r>
                    </a:p>
                  </a:txBody>
                  <a:tcPr anchor="ctr">
                    <a:solidFill>
                      <a:srgbClr val="E8EDF2"/>
                    </a:solidFill>
                  </a:tcPr>
                </a:tc>
              </a:tr>
              <a:tr h="448887">
                <a:tc>
                  <a:txBody>
                    <a:bodyPr/>
                    <a:lstStyle/>
                    <a:p>
                      <a:pPr>
                        <a:defRPr sz="800" b="0">
                          <a:solidFill>
                            <a:srgbClr val="2D3748"/>
                          </a:solidFill>
                        </a:defRPr>
                      </a:pPr>
                      <a:r>
                        <a:t>Human Review Coverage</a:t>
                      </a:r>
                    </a:p>
                  </a:txBody>
                  <a:tcPr anchor="ctr">
                    <a:solidFill>
                      <a:srgbClr val="FFFFFF"/>
                    </a:solidFill>
                  </a:tcPr>
                </a:tc>
                <a:tc>
                  <a:txBody>
                    <a:bodyPr/>
                    <a:lstStyle/>
                    <a:p>
                      <a:pPr>
                        <a:defRPr sz="800" b="0">
                          <a:solidFill>
                            <a:srgbClr val="2D3748"/>
                          </a:solidFill>
                        </a:defRPr>
                      </a:pPr>
                      <a:r>
                        <a:t>100% critical incidents</a:t>
                      </a:r>
                    </a:p>
                  </a:txBody>
                  <a:tcPr anchor="ctr">
                    <a:solidFill>
                      <a:srgbClr val="FFFFFF"/>
                    </a:solidFill>
                  </a:tcPr>
                </a:tc>
                <a:tc>
                  <a:txBody>
                    <a:bodyPr/>
                    <a:lstStyle/>
                    <a:p>
                      <a:pPr>
                        <a:defRPr sz="800" b="0">
                          <a:solidFill>
                            <a:srgbClr val="2D3748"/>
                          </a:solidFill>
                        </a:defRPr>
                      </a:pPr>
                      <a:r>
                        <a:t>SOC workflow audit logs</a:t>
                      </a:r>
                    </a:p>
                  </a:txBody>
                  <a:tcPr anchor="ctr">
                    <a:solidFill>
                      <a:srgbClr val="FFFFFF"/>
                    </a:solidFill>
                  </a:tcPr>
                </a:tc>
              </a:tr>
              <a:tr h="448887">
                <a:tc>
                  <a:txBody>
                    <a:bodyPr/>
                    <a:lstStyle/>
                    <a:p>
                      <a:pPr>
                        <a:defRPr sz="800" b="0">
                          <a:solidFill>
                            <a:srgbClr val="2D3748"/>
                          </a:solidFill>
                        </a:defRPr>
                      </a:pPr>
                      <a:r>
                        <a:t>Explainability Coverage</a:t>
                      </a:r>
                    </a:p>
                  </a:txBody>
                  <a:tcPr anchor="ctr">
                    <a:solidFill>
                      <a:srgbClr val="E8EDF2"/>
                    </a:solidFill>
                  </a:tcPr>
                </a:tc>
                <a:tc>
                  <a:txBody>
                    <a:bodyPr/>
                    <a:lstStyle/>
                    <a:p>
                      <a:pPr>
                        <a:defRPr sz="800" b="0">
                          <a:solidFill>
                            <a:srgbClr val="2D3748"/>
                          </a:solidFill>
                        </a:defRPr>
                      </a:pPr>
                      <a:r>
                        <a:t>90%+ high/critical use cases</a:t>
                      </a:r>
                    </a:p>
                  </a:txBody>
                  <a:tcPr anchor="ctr">
                    <a:solidFill>
                      <a:srgbClr val="E8EDF2"/>
                    </a:solidFill>
                  </a:tcPr>
                </a:tc>
                <a:tc>
                  <a:txBody>
                    <a:bodyPr/>
                    <a:lstStyle/>
                    <a:p>
                      <a:pPr>
                        <a:defRPr sz="800" b="0">
                          <a:solidFill>
                            <a:srgbClr val="2D3748"/>
                          </a:solidFill>
                        </a:defRPr>
                      </a:pPr>
                      <a:r>
                        <a:t>SHAP/LIME report completion rate</a:t>
                      </a:r>
                    </a:p>
                  </a:txBody>
                  <a:tcPr anchor="ctr">
                    <a:solidFill>
                      <a:srgbClr val="E8EDF2"/>
                    </a:solidFill>
                  </a:tcPr>
                </a:tc>
              </a:tr>
              <a:tr h="448887">
                <a:tc>
                  <a:txBody>
                    <a:bodyPr/>
                    <a:lstStyle/>
                    <a:p>
                      <a:pPr>
                        <a:defRPr sz="800" b="0">
                          <a:solidFill>
                            <a:srgbClr val="2D3748"/>
                          </a:solidFill>
                        </a:defRPr>
                      </a:pPr>
                      <a:r>
                        <a:t>AI Governance Compliance</a:t>
                      </a:r>
                    </a:p>
                  </a:txBody>
                  <a:tcPr anchor="ctr">
                    <a:solidFill>
                      <a:srgbClr val="FFFFFF"/>
                    </a:solidFill>
                  </a:tcPr>
                </a:tc>
                <a:tc>
                  <a:txBody>
                    <a:bodyPr/>
                    <a:lstStyle/>
                    <a:p>
                      <a:pPr>
                        <a:defRPr sz="800" b="0">
                          <a:solidFill>
                            <a:srgbClr val="2D3748"/>
                          </a:solidFill>
                        </a:defRPr>
                      </a:pPr>
                      <a:r>
                        <a:t>100% before production</a:t>
                      </a:r>
                    </a:p>
                  </a:txBody>
                  <a:tcPr anchor="ctr">
                    <a:solidFill>
                      <a:srgbClr val="FFFFFF"/>
                    </a:solidFill>
                  </a:tcPr>
                </a:tc>
                <a:tc>
                  <a:txBody>
                    <a:bodyPr/>
                    <a:lstStyle/>
                    <a:p>
                      <a:pPr>
                        <a:defRPr sz="800" b="0">
                          <a:solidFill>
                            <a:srgbClr val="2D3748"/>
                          </a:solidFill>
                        </a:defRPr>
                      </a:pPr>
                      <a:r>
                        <a:t>AI Review Board approval records</a:t>
                      </a:r>
                    </a:p>
                  </a:txBody>
                  <a:tcPr anchor="ctr">
                    <a:solidFill>
                      <a:srgbClr val="FFFFFF"/>
                    </a:solidFill>
                  </a:tcPr>
                </a:tc>
              </a:tr>
              <a:tr h="448887">
                <a:tc>
                  <a:txBody>
                    <a:bodyPr/>
                    <a:lstStyle/>
                    <a:p>
                      <a:pPr>
                        <a:defRPr sz="800" b="0">
                          <a:solidFill>
                            <a:srgbClr val="2D3748"/>
                          </a:solidFill>
                        </a:defRPr>
                      </a:pPr>
                      <a:r>
                        <a:t>Ethics Review Completion</a:t>
                      </a:r>
                    </a:p>
                  </a:txBody>
                  <a:tcPr anchor="ctr">
                    <a:solidFill>
                      <a:srgbClr val="E8EDF2"/>
                    </a:solidFill>
                  </a:tcPr>
                </a:tc>
                <a:tc>
                  <a:txBody>
                    <a:bodyPr/>
                    <a:lstStyle/>
                    <a:p>
                      <a:pPr>
                        <a:defRPr sz="800" b="0">
                          <a:solidFill>
                            <a:srgbClr val="2D3748"/>
                          </a:solidFill>
                        </a:defRPr>
                      </a:pPr>
                      <a:r>
                        <a:t>100% of AI systems</a:t>
                      </a:r>
                    </a:p>
                  </a:txBody>
                  <a:tcPr anchor="ctr">
                    <a:solidFill>
                      <a:srgbClr val="E8EDF2"/>
                    </a:solidFill>
                  </a:tcPr>
                </a:tc>
                <a:tc>
                  <a:txBody>
                    <a:bodyPr/>
                    <a:lstStyle/>
                    <a:p>
                      <a:pPr>
                        <a:defRPr sz="800" b="0">
                          <a:solidFill>
                            <a:srgbClr val="2D3748"/>
                          </a:solidFill>
                        </a:defRPr>
                      </a:pPr>
                      <a:r>
                        <a:t>Vetting workflow tracker</a:t>
                      </a:r>
                    </a:p>
                  </a:txBody>
                  <a:tcPr anchor="ctr">
                    <a:solidFill>
                      <a:srgbClr val="E8EDF2"/>
                    </a:solidFill>
                  </a:tcPr>
                </a:tc>
              </a:tr>
              <a:tr h="448887">
                <a:tc>
                  <a:txBody>
                    <a:bodyPr/>
                    <a:lstStyle/>
                    <a:p>
                      <a:pPr>
                        <a:defRPr sz="800" b="0">
                          <a:solidFill>
                            <a:srgbClr val="2D3748"/>
                          </a:solidFill>
                        </a:defRPr>
                      </a:pPr>
                      <a:r>
                        <a:t>High-Risk Findings Resolved</a:t>
                      </a:r>
                    </a:p>
                  </a:txBody>
                  <a:tcPr anchor="ctr">
                    <a:solidFill>
                      <a:srgbClr val="FFFFFF"/>
                    </a:solidFill>
                  </a:tcPr>
                </a:tc>
                <a:tc>
                  <a:txBody>
                    <a:bodyPr/>
                    <a:lstStyle/>
                    <a:p>
                      <a:pPr>
                        <a:defRPr sz="800" b="0">
                          <a:solidFill>
                            <a:srgbClr val="2D3748"/>
                          </a:solidFill>
                        </a:defRPr>
                      </a:pPr>
                      <a:r>
                        <a:t>&gt;95%</a:t>
                      </a:r>
                    </a:p>
                  </a:txBody>
                  <a:tcPr anchor="ctr">
                    <a:solidFill>
                      <a:srgbClr val="FFFFFF"/>
                    </a:solidFill>
                  </a:tcPr>
                </a:tc>
                <a:tc>
                  <a:txBody>
                    <a:bodyPr/>
                    <a:lstStyle/>
                    <a:p>
                      <a:pPr>
                        <a:defRPr sz="800" b="0">
                          <a:solidFill>
                            <a:srgbClr val="2D3748"/>
                          </a:solidFill>
                        </a:defRPr>
                      </a:pPr>
                      <a:r>
                        <a:t>Risk register closure rate</a:t>
                      </a:r>
                    </a:p>
                  </a:txBody>
                  <a:tcPr anchor="ctr">
                    <a:solidFill>
                      <a:srgbClr val="FFFFFF"/>
                    </a:solidFill>
                  </a:tcPr>
                </a:tc>
              </a:tr>
              <a:tr h="448887">
                <a:tc>
                  <a:txBody>
                    <a:bodyPr/>
                    <a:lstStyle/>
                    <a:p>
                      <a:pPr>
                        <a:defRPr sz="800" b="0">
                          <a:solidFill>
                            <a:srgbClr val="2D3748"/>
                          </a:solidFill>
                        </a:defRPr>
                      </a:pPr>
                      <a:r>
                        <a:t>Vendor AI Assessments</a:t>
                      </a:r>
                    </a:p>
                  </a:txBody>
                  <a:tcPr anchor="ctr">
                    <a:solidFill>
                      <a:srgbClr val="E8EDF2"/>
                    </a:solidFill>
                  </a:tcPr>
                </a:tc>
                <a:tc>
                  <a:txBody>
                    <a:bodyPr/>
                    <a:lstStyle/>
                    <a:p>
                      <a:pPr>
                        <a:defRPr sz="800" b="0">
                          <a:solidFill>
                            <a:srgbClr val="2D3748"/>
                          </a:solidFill>
                        </a:defRPr>
                      </a:pPr>
                      <a:r>
                        <a:t>100% of third-party AI</a:t>
                      </a:r>
                    </a:p>
                  </a:txBody>
                  <a:tcPr anchor="ctr">
                    <a:solidFill>
                      <a:srgbClr val="E8EDF2"/>
                    </a:solidFill>
                  </a:tcPr>
                </a:tc>
                <a:tc>
                  <a:txBody>
                    <a:bodyPr/>
                    <a:lstStyle/>
                    <a:p>
                      <a:pPr>
                        <a:defRPr sz="800" b="0">
                          <a:solidFill>
                            <a:srgbClr val="2D3748"/>
                          </a:solidFill>
                        </a:defRPr>
                      </a:pPr>
                      <a:r>
                        <a:t>Procurement checklist completion</a:t>
                      </a:r>
                    </a:p>
                  </a:txBody>
                  <a:tcPr anchor="ctr">
                    <a:solidFill>
                      <a:srgbClr val="E8EDF2"/>
                    </a:solidFill>
                  </a:tcPr>
                </a:tc>
              </a:tr>
              <a:tr h="448887">
                <a:tc>
                  <a:txBody>
                    <a:bodyPr/>
                    <a:lstStyle/>
                    <a:p>
                      <a:pPr>
                        <a:defRPr sz="800" b="0">
                          <a:solidFill>
                            <a:srgbClr val="2D3748"/>
                          </a:solidFill>
                        </a:defRPr>
                      </a:pPr>
                      <a:r>
                        <a:t>RAI Training Completion</a:t>
                      </a:r>
                    </a:p>
                  </a:txBody>
                  <a:tcPr anchor="ctr">
                    <a:solidFill>
                      <a:srgbClr val="FFFFFF"/>
                    </a:solidFill>
                  </a:tcPr>
                </a:tc>
                <a:tc>
                  <a:txBody>
                    <a:bodyPr/>
                    <a:lstStyle/>
                    <a:p>
                      <a:pPr>
                        <a:defRPr sz="800" b="0">
                          <a:solidFill>
                            <a:srgbClr val="2D3748"/>
                          </a:solidFill>
                        </a:defRPr>
                      </a:pPr>
                      <a:r>
                        <a:t>100% employees</a:t>
                      </a:r>
                    </a:p>
                  </a:txBody>
                  <a:tcPr anchor="ctr">
                    <a:solidFill>
                      <a:srgbClr val="FFFFFF"/>
                    </a:solidFill>
                  </a:tcPr>
                </a:tc>
                <a:tc>
                  <a:txBody>
                    <a:bodyPr/>
                    <a:lstStyle/>
                    <a:p>
                      <a:pPr>
                        <a:defRPr sz="800" b="0">
                          <a:solidFill>
                            <a:srgbClr val="2D3748"/>
                          </a:solidFill>
                        </a:defRPr>
                      </a:pPr>
                      <a:r>
                        <a:t>LMS completion by role</a:t>
                      </a:r>
                    </a:p>
                  </a:txBody>
                  <a:tcPr anchor="ctr">
                    <a:solidFill>
                      <a:srgbClr val="FFFFFF"/>
                    </a:solidFill>
                  </a:tcPr>
                </a:tc>
              </a:tr>
              <a:tr h="448890">
                <a:tc>
                  <a:txBody>
                    <a:bodyPr/>
                    <a:lstStyle/>
                    <a:p>
                      <a:pPr>
                        <a:defRPr sz="800" b="0">
                          <a:solidFill>
                            <a:srgbClr val="2D3748"/>
                          </a:solidFill>
                        </a:defRPr>
                      </a:pPr>
                      <a:r>
                        <a:t>Drift / Degradation Response</a:t>
                      </a:r>
                    </a:p>
                  </a:txBody>
                  <a:tcPr anchor="ctr">
                    <a:solidFill>
                      <a:srgbClr val="E8EDF2"/>
                    </a:solidFill>
                  </a:tcPr>
                </a:tc>
                <a:tc>
                  <a:txBody>
                    <a:bodyPr/>
                    <a:lstStyle/>
                    <a:p>
                      <a:pPr>
                        <a:defRPr sz="800" b="0">
                          <a:solidFill>
                            <a:srgbClr val="2D3748"/>
                          </a:solidFill>
                        </a:defRPr>
                      </a:pPr>
                      <a:r>
                        <a:t>&lt;30 days to remediate</a:t>
                      </a:r>
                    </a:p>
                  </a:txBody>
                  <a:tcPr anchor="ctr">
                    <a:solidFill>
                      <a:srgbClr val="E8EDF2"/>
                    </a:solidFill>
                  </a:tcPr>
                </a:tc>
                <a:tc>
                  <a:txBody>
                    <a:bodyPr/>
                    <a:lstStyle/>
                    <a:p>
                      <a:pPr>
                        <a:defRPr sz="800" b="0">
                          <a:solidFill>
                            <a:srgbClr val="2D3748"/>
                          </a:solidFill>
                        </a:defRPr>
                      </a:pPr>
                      <a:r>
                        <a:t>Monitoring dashboard SLA</a:t>
                      </a:r>
                    </a:p>
                  </a:txBody>
                  <a:tcPr anchor="ctr">
                    <a:solidFill>
                      <a:srgbClr val="E8EDF2"/>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AI Development Lifecycle</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RAI actions at each step including disposition — Assignment 5.4</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pic>
        <p:nvPicPr>
          <p:cNvPr id="6" name="Picture 5" descr="chart_lifecycle.png"/>
          <p:cNvPicPr>
            <a:picLocks noChangeAspect="1"/>
          </p:cNvPicPr>
          <p:nvPr/>
        </p:nvPicPr>
        <p:blipFill>
          <a:blip r:embed="rId2"/>
          <a:stretch>
            <a:fillRect/>
          </a:stretch>
        </p:blipFill>
        <p:spPr>
          <a:xfrm>
            <a:off x="320040" y="1115568"/>
            <a:ext cx="11521440" cy="6844284"/>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RAI Risk Evaluation Guidelines</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Integrated evaluation across all risk domains</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pic>
        <p:nvPicPr>
          <p:cNvPr id="6" name="Picture 5" descr="chart_risk_eval.png"/>
          <p:cNvPicPr>
            <a:picLocks noChangeAspect="1"/>
          </p:cNvPicPr>
          <p:nvPr/>
        </p:nvPicPr>
        <p:blipFill>
          <a:blip r:embed="rId2"/>
          <a:stretch>
            <a:fillRect/>
          </a:stretch>
        </p:blipFill>
        <p:spPr>
          <a:xfrm>
            <a:off x="320040" y="1115568"/>
            <a:ext cx="11521440" cy="6844284"/>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Additional Best Practices &amp; Organizational Commitment</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Actionable commitments beyond compliance</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sp>
        <p:nvSpPr>
          <p:cNvPr id="6" name="TextBox 5"/>
          <p:cNvSpPr txBox="1"/>
          <p:nvPr/>
        </p:nvSpPr>
        <p:spPr>
          <a:xfrm>
            <a:off x="640080" y="1234440"/>
            <a:ext cx="11064240" cy="5029200"/>
          </a:xfrm>
          <a:prstGeom prst="rect">
            <a:avLst/>
          </a:prstGeom>
          <a:noFill/>
        </p:spPr>
        <p:txBody>
          <a:bodyPr wrap="square">
            <a:spAutoFit/>
          </a:bodyPr>
          <a:lstStyle/>
          <a:p>
            <a:pPr>
              <a:spcBef>
                <a:spcPts val="400"/>
              </a:spcBef>
              <a:defRPr sz="1300">
                <a:solidFill>
                  <a:srgbClr val="2D3748"/>
                </a:solidFill>
              </a:defRPr>
            </a:pPr>
            <a:r>
              <a:t>Pre-mortem every high-risk use case before development (Markkula Center; WS 3.3 CAIO simulation lesson).</a:t>
            </a:r>
          </a:p>
          <a:p>
            <a:pPr>
              <a:spcBef>
                <a:spcPts val="400"/>
              </a:spcBef>
              <a:defRPr sz="1300">
                <a:solidFill>
                  <a:srgbClr val="2D3748"/>
                </a:solidFill>
              </a:defRPr>
            </a:pPr>
            <a:r>
              <a:t>Champion/challenger deployment: no full cutover without measured pilot (SwiftTel WS 6.1 lesson).</a:t>
            </a:r>
          </a:p>
          <a:p>
            <a:pPr>
              <a:spcBef>
                <a:spcPts val="400"/>
              </a:spcBef>
              <a:defRPr sz="1300">
                <a:solidFill>
                  <a:srgbClr val="2D3748"/>
                </a:solidFill>
              </a:defRPr>
            </a:pPr>
            <a:r>
              <a:t>Never use customer telemetry to train global models without explicit consent (4.4 privacy; 4.3 IP).</a:t>
            </a:r>
          </a:p>
          <a:p>
            <a:pPr>
              <a:spcBef>
                <a:spcPts val="400"/>
              </a:spcBef>
              <a:defRPr sz="1300">
                <a:solidFill>
                  <a:srgbClr val="2D3748"/>
                </a:solidFill>
              </a:defRPr>
            </a:pPr>
            <a:r>
              <a:t>Pair technical guardrails with user education — trained users are the first line of defense (5.3).</a:t>
            </a:r>
          </a:p>
          <a:p>
            <a:pPr>
              <a:spcBef>
                <a:spcPts val="400"/>
              </a:spcBef>
              <a:defRPr sz="1300">
                <a:solidFill>
                  <a:srgbClr val="2D3748"/>
                </a:solidFill>
              </a:defRPr>
            </a:pPr>
            <a:r>
              <a:t>Biblical stewardship: build maintainable systems; plan disposition before launch (5.1; Moxie lesson).</a:t>
            </a:r>
          </a:p>
          <a:p>
            <a:pPr>
              <a:spcBef>
                <a:spcPts val="400"/>
              </a:spcBef>
              <a:defRPr sz="1300">
                <a:solidFill>
                  <a:srgbClr val="2D3748"/>
                </a:solidFill>
              </a:defRPr>
            </a:pPr>
            <a:r>
              <a:t>Personal integrity: leaders model responsible AI use; disclose AI assistance in communications (6.4).</a:t>
            </a:r>
          </a:p>
          <a:p>
            <a:pPr>
              <a:spcBef>
                <a:spcPts val="400"/>
              </a:spcBef>
              <a:defRPr sz="1300">
                <a:solidFill>
                  <a:srgbClr val="2D3748"/>
                </a:solidFill>
              </a:defRPr>
            </a:pPr>
            <a:r>
              <a:t>Portfolio commitment: upload this framework + key WS artifacts to professional portfolio.</a:t>
            </a:r>
          </a:p>
          <a:p>
            <a:pPr>
              <a:spcBef>
                <a:spcPts val="400"/>
              </a:spcBef>
              <a:defRPr sz="1300">
                <a:solidFill>
                  <a:srgbClr val="2D3748"/>
                </a:solidFill>
              </a:defRPr>
            </a:pPr>
            <a:r>
              <a:t>Year-1 goal: move from compliance exercise to embedded RAI culture measured by maturity review (Month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Prioritized RAI References</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12 sources for ongoing professional use — APA format</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Final Responsible AI Framework | AIML-510-01</a:t>
            </a:r>
          </a:p>
        </p:txBody>
      </p:sp>
      <p:sp>
        <p:nvSpPr>
          <p:cNvPr id="6" name="TextBox 5"/>
          <p:cNvSpPr txBox="1"/>
          <p:nvPr/>
        </p:nvSpPr>
        <p:spPr>
          <a:xfrm>
            <a:off x="502920" y="1188720"/>
            <a:ext cx="11247120" cy="5120640"/>
          </a:xfrm>
          <a:prstGeom prst="rect">
            <a:avLst/>
          </a:prstGeom>
          <a:noFill/>
        </p:spPr>
        <p:txBody>
          <a:bodyPr wrap="square">
            <a:spAutoFit/>
          </a:bodyPr>
          <a:lstStyle/>
          <a:p>
            <a:pPr>
              <a:spcBef>
                <a:spcPts val="300"/>
              </a:spcBef>
              <a:defRPr sz="1000">
                <a:solidFill>
                  <a:srgbClr val="2D3748"/>
                </a:solidFill>
              </a:defRPr>
            </a:pPr>
            <a:r>
              <a:t>1. Blackman, R. (2022). Ethical machines: Your concise guide to totally unbiased, transparent, and respectful artificial intelligence. Harvard Business Review Press.</a:t>
            </a:r>
          </a:p>
          <a:p>
            <a:pPr>
              <a:spcBef>
                <a:spcPts val="300"/>
              </a:spcBef>
              <a:defRPr sz="1000">
                <a:solidFill>
                  <a:srgbClr val="2D3748"/>
                </a:solidFill>
              </a:defRPr>
            </a:pPr>
            <a:r>
              <a:t>2. Markkula Center for Applied Ethics. (2021). Ethics of AI applications for mental health care. Santa Clara University. https://www.scu.edu/ethics/focus-areas/technology-ethics/</a:t>
            </a:r>
          </a:p>
          <a:p>
            <a:pPr>
              <a:spcBef>
                <a:spcPts val="300"/>
              </a:spcBef>
              <a:defRPr sz="1000">
                <a:solidFill>
                  <a:srgbClr val="2D3748"/>
                </a:solidFill>
              </a:defRPr>
            </a:pPr>
            <a:r>
              <a:t>3. Markkula Center for Applied Ethics. (n.d.). Ethics in technology practice toolkit. Santa Clara University.</a:t>
            </a:r>
          </a:p>
          <a:p>
            <a:pPr>
              <a:spcBef>
                <a:spcPts val="300"/>
              </a:spcBef>
              <a:defRPr sz="1000">
                <a:solidFill>
                  <a:srgbClr val="2D3748"/>
                </a:solidFill>
              </a:defRPr>
            </a:pPr>
            <a:r>
              <a:t>4. National Institute of Standards and Technology. (2023). Artificial intelligence risk management framework (AI RMF 1.0). U.S. Department of Commerce.</a:t>
            </a:r>
          </a:p>
          <a:p>
            <a:pPr>
              <a:spcBef>
                <a:spcPts val="300"/>
              </a:spcBef>
              <a:defRPr sz="1000">
                <a:solidFill>
                  <a:srgbClr val="2D3748"/>
                </a:solidFill>
              </a:defRPr>
            </a:pPr>
            <a:r>
              <a:t>5. National Institute of Standards and Technology. (2022). Towards a standard for identifying and managing bias in artificial intelligence (NIST SP 1270).</a:t>
            </a:r>
          </a:p>
          <a:p>
            <a:pPr>
              <a:spcBef>
                <a:spcPts val="300"/>
              </a:spcBef>
              <a:defRPr sz="1000">
                <a:solidFill>
                  <a:srgbClr val="2D3748"/>
                </a:solidFill>
              </a:defRPr>
            </a:pPr>
            <a:r>
              <a:t>6. National Institute of Standards and Technology. (2020). NIST privacy framework: A tool for improving privacy through enterprise risk management, Version 1.0.</a:t>
            </a:r>
          </a:p>
          <a:p>
            <a:pPr>
              <a:spcBef>
                <a:spcPts val="300"/>
              </a:spcBef>
              <a:defRPr sz="1000">
                <a:solidFill>
                  <a:srgbClr val="2D3748"/>
                </a:solidFill>
              </a:defRPr>
            </a:pPr>
            <a:r>
              <a:t>7. Microsoft Corporation. (2022). Microsoft responsible AI standard, v2. https://www.microsoft.com/en-us/ai/responsible-ai</a:t>
            </a:r>
          </a:p>
          <a:p>
            <a:pPr>
              <a:spcBef>
                <a:spcPts val="300"/>
              </a:spcBef>
              <a:defRPr sz="1000">
                <a:solidFill>
                  <a:srgbClr val="2D3748"/>
                </a:solidFill>
              </a:defRPr>
            </a:pPr>
            <a:r>
              <a:t>8. Dell'Acqua, F., et al. (2023). Navigating the jagged technological frontier. Harvard Business School Working Paper 24-013.</a:t>
            </a:r>
          </a:p>
          <a:p>
            <a:pPr>
              <a:spcBef>
                <a:spcPts val="300"/>
              </a:spcBef>
              <a:defRPr sz="1000">
                <a:solidFill>
                  <a:srgbClr val="2D3748"/>
                </a:solidFill>
              </a:defRPr>
            </a:pPr>
            <a:r>
              <a:t>9. Postman, N. (1992). Technopoly: The surrender of culture to technology. Vintage Books.</a:t>
            </a:r>
          </a:p>
          <a:p>
            <a:pPr>
              <a:spcBef>
                <a:spcPts val="300"/>
              </a:spcBef>
              <a:defRPr sz="1000">
                <a:solidFill>
                  <a:srgbClr val="2D3748"/>
                </a:solidFill>
              </a:defRPr>
            </a:pPr>
            <a:r>
              <a:t>10. World Intellectual Property Organization. (2024). Generative AI: Navigating intellectual property. WIPO.</a:t>
            </a:r>
          </a:p>
          <a:p>
            <a:pPr>
              <a:spcBef>
                <a:spcPts val="300"/>
              </a:spcBef>
              <a:defRPr sz="1000">
                <a:solidFill>
                  <a:srgbClr val="2D3748"/>
                </a:solidFill>
              </a:defRPr>
            </a:pPr>
            <a:r>
              <a:t>11. U.S. Executive Office of the President. (2024). Executive Order 14117: Preventing access to Americans' bulk sensitive personal data (DHS implementation guidance).</a:t>
            </a:r>
          </a:p>
          <a:p>
            <a:pPr>
              <a:spcBef>
                <a:spcPts val="300"/>
              </a:spcBef>
              <a:defRPr sz="1000">
                <a:solidFill>
                  <a:srgbClr val="2D3748"/>
                </a:solidFill>
              </a:defRPr>
            </a:pPr>
            <a:r>
              <a:t>12. Vallor, S. (2016). Technology and the virtues: A philosophical guide to a future worth wanting. Oxford University Press.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